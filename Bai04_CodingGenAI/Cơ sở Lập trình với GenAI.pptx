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webp" ContentType="image/webp"/>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embeddedFontLst>
    <p:embeddedFont>
      <p:font typeface="MiSans" charset="-122" pitchFamily="34"/>
      <p:regular r:id="rId19"/>
    </p:embeddedFont>
    <p:embeddedFont>
      <p:font typeface="Liter" charset="-122" pitchFamily="34"/>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openxmlformats.org/officeDocument/2006/relationships/font" Target="fonts/font1.fntdata"/><Relationship Id="rId20"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webp"/><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webp"/><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p:bgPr>
    </p:bg>
    <p:spTree>
      <p:nvGrpSpPr>
        <p:cNvPr id="1" name=""/>
        <p:cNvGrpSpPr/>
        <p:nvPr/>
      </p:nvGrpSpPr>
      <p:grpSpPr>
        <a:xfrm>
          <a:off x="0" y="0"/>
          <a:ext cx="0" cy="0"/>
          <a:chOff x="0" y="0"/>
          <a:chExt cx="0" cy="0"/>
        </a:xfrm>
      </p:grpSpPr>
      <p:pic>
        <p:nvPicPr>
          <p:cNvPr id="2" name="Image 0" descr="https://kimi-web-img.moonshot.cn/img/t4.ftcdn.net/f465ff154d4e66c121d447194023d3bd1e04eb80.jpg">    </p:cNvPr>
          <p:cNvPicPr>
            <a:picLocks noChangeAspect="1"/>
          </p:cNvPicPr>
          <p:nvPr/>
        </p:nvPicPr>
        <p:blipFill>
          <a:blip r:embed="rId1">
            <a:alphaModFix amt="10000"/>
          </a:blip>
          <a:srcRect l="0" r="0" t="0" b="0"/>
          <a:stretch/>
        </p:blipFill>
        <p:spPr>
          <a:xfrm>
            <a:off x="0" y="0"/>
            <a:ext cx="12192000" cy="6858000"/>
          </a:xfrm>
          <a:prstGeom prst="roundRect">
            <a:avLst>
              <a:gd name="adj" fmla="val 0"/>
            </a:avLst>
          </a:prstGeom>
        </p:spPr>
      </p:pic>
      <p:sp>
        <p:nvSpPr>
          <p:cNvPr id="3" name="Shape 0"/>
          <p:cNvSpPr/>
          <p:nvPr/>
        </p:nvSpPr>
        <p:spPr>
          <a:xfrm>
            <a:off x="4409447" y="1476540"/>
            <a:ext cx="3372908" cy="353483"/>
          </a:xfrm>
          <a:custGeom>
            <a:avLst/>
            <a:gdLst/>
            <a:ahLst/>
            <a:cxnLst/>
            <a:rect l="l" t="t" r="r" b="b"/>
            <a:pathLst>
              <a:path w="3372908" h="353483">
                <a:moveTo>
                  <a:pt x="176742" y="0"/>
                </a:moveTo>
                <a:lnTo>
                  <a:pt x="3196167" y="0"/>
                </a:lnTo>
                <a:cubicBezTo>
                  <a:pt x="3293778" y="0"/>
                  <a:pt x="3372908" y="79130"/>
                  <a:pt x="3372908" y="176742"/>
                </a:cubicBezTo>
                <a:lnTo>
                  <a:pt x="3372908" y="176742"/>
                </a:lnTo>
                <a:cubicBezTo>
                  <a:pt x="3372908" y="274353"/>
                  <a:pt x="3293778" y="353483"/>
                  <a:pt x="3196167" y="353483"/>
                </a:cubicBezTo>
                <a:lnTo>
                  <a:pt x="176742" y="353483"/>
                </a:lnTo>
                <a:cubicBezTo>
                  <a:pt x="79195" y="353483"/>
                  <a:pt x="0" y="274288"/>
                  <a:pt x="0" y="176742"/>
                </a:cubicBezTo>
                <a:lnTo>
                  <a:pt x="0" y="176742"/>
                </a:lnTo>
                <a:cubicBezTo>
                  <a:pt x="0" y="79195"/>
                  <a:pt x="79195" y="0"/>
                  <a:pt x="176742" y="0"/>
                </a:cubicBezTo>
                <a:close/>
              </a:path>
            </a:pathLst>
          </a:custGeom>
          <a:solidFill>
            <a:srgbClr val="000000">
              <a:alpha val="0"/>
            </a:srgbClr>
          </a:solidFill>
          <a:ln w="14111">
            <a:solidFill>
              <a:srgbClr val="E5E5E5"/>
            </a:solidFill>
            <a:prstDash val="solid"/>
          </a:ln>
        </p:spPr>
      </p:sp>
      <p:sp>
        <p:nvSpPr>
          <p:cNvPr id="4" name="Text 1"/>
          <p:cNvSpPr/>
          <p:nvPr/>
        </p:nvSpPr>
        <p:spPr>
          <a:xfrm>
            <a:off x="4609935" y="1557900"/>
            <a:ext cx="2971800" cy="190500"/>
          </a:xfrm>
          <a:prstGeom prst="rect">
            <a:avLst/>
          </a:prstGeom>
          <a:noFill/>
          <a:ln/>
        </p:spPr>
        <p:txBody>
          <a:bodyPr wrap="square" lIns="0" tIns="0" rIns="0" bIns="0" rtlCol="0" anchor="ctr"/>
          <a:lstStyle/>
          <a:p>
            <a:pPr algn="ctr">
              <a:lnSpc>
                <a:spcPct val="120000"/>
              </a:lnSpc>
            </a:pPr>
            <a:r>
              <a:rPr lang="en-US" sz="1050" spc="105" kern="0" dirty="0">
                <a:solidFill>
                  <a:srgbClr val="86868B"/>
                </a:solidFill>
                <a:latin typeface="MiSans" pitchFamily="34" charset="0"/>
                <a:ea typeface="MiSans" pitchFamily="34" charset="-122"/>
                <a:cs typeface="MiSans" pitchFamily="34" charset="-120"/>
              </a:rPr>
              <a:t>Báo cáo Đồ án Seminar Chuyên đề</a:t>
            </a:r>
            <a:endParaRPr lang="en-US" sz="1600" dirty="0"/>
          </a:p>
        </p:txBody>
      </p:sp>
      <p:sp>
        <p:nvSpPr>
          <p:cNvPr id="5" name="Text 2"/>
          <p:cNvSpPr/>
          <p:nvPr/>
        </p:nvSpPr>
        <p:spPr>
          <a:xfrm>
            <a:off x="3622675" y="2368186"/>
            <a:ext cx="4943475" cy="1714500"/>
          </a:xfrm>
          <a:prstGeom prst="rect">
            <a:avLst/>
          </a:prstGeom>
          <a:noFill/>
          <a:ln/>
        </p:spPr>
        <p:txBody>
          <a:bodyPr wrap="square" lIns="0" tIns="0" rIns="0" bIns="0" rtlCol="0" anchor="ctr"/>
          <a:lstStyle/>
          <a:p>
            <a:pPr algn="ctr">
              <a:lnSpc>
                <a:spcPct val="100000"/>
              </a:lnSpc>
            </a:pPr>
            <a:r>
              <a:rPr lang="en-US" sz="5400" dirty="0">
                <a:solidFill>
                  <a:srgbClr val="1D1D1D"/>
                </a:solidFill>
                <a:latin typeface="Liter" pitchFamily="34" charset="0"/>
                <a:ea typeface="Liter" pitchFamily="34" charset="-122"/>
                <a:cs typeface="Liter" pitchFamily="34" charset="-120"/>
              </a:rPr>
              <a:t>Cơ sở Lập trình</a:t>
            </a:r>
            <a:endParaRPr lang="en-US" sz="1600" dirty="0"/>
          </a:p>
          <a:p>
            <a:pPr algn="ctr">
              <a:lnSpc>
                <a:spcPct val="100000"/>
              </a:lnSpc>
            </a:pPr>
            <a:r>
              <a:rPr lang="en-US" sz="5400" dirty="0">
                <a:solidFill>
                  <a:srgbClr val="1D1D1D"/>
                </a:solidFill>
                <a:latin typeface="Liter" pitchFamily="34" charset="0"/>
                <a:ea typeface="Liter" pitchFamily="34" charset="-122"/>
                <a:cs typeface="Liter" pitchFamily="34" charset="-120"/>
              </a:rPr>
              <a:t>với GenAI</a:t>
            </a:r>
            <a:endParaRPr lang="en-US" sz="1600" dirty="0"/>
          </a:p>
        </p:txBody>
      </p:sp>
      <p:sp>
        <p:nvSpPr>
          <p:cNvPr id="6" name="Shape 3"/>
          <p:cNvSpPr/>
          <p:nvPr/>
        </p:nvSpPr>
        <p:spPr>
          <a:xfrm>
            <a:off x="5638767" y="4387123"/>
            <a:ext cx="914400" cy="9525"/>
          </a:xfrm>
          <a:custGeom>
            <a:avLst/>
            <a:gdLst/>
            <a:ahLst/>
            <a:cxnLst/>
            <a:rect l="l" t="t" r="r" b="b"/>
            <a:pathLst>
              <a:path w="914400" h="9525">
                <a:moveTo>
                  <a:pt x="0" y="0"/>
                </a:moveTo>
                <a:lnTo>
                  <a:pt x="914400" y="0"/>
                </a:lnTo>
                <a:lnTo>
                  <a:pt x="914400" y="9525"/>
                </a:lnTo>
                <a:lnTo>
                  <a:pt x="0" y="9525"/>
                </a:lnTo>
                <a:lnTo>
                  <a:pt x="0" y="0"/>
                </a:lnTo>
                <a:close/>
              </a:path>
            </a:pathLst>
          </a:custGeom>
          <a:solidFill>
            <a:srgbClr val="1D1D1D"/>
          </a:solidFill>
          <a:ln/>
        </p:spPr>
      </p:sp>
      <p:sp>
        <p:nvSpPr>
          <p:cNvPr id="7" name="Text 4"/>
          <p:cNvSpPr/>
          <p:nvPr/>
        </p:nvSpPr>
        <p:spPr>
          <a:xfrm>
            <a:off x="3989090" y="4701315"/>
            <a:ext cx="4210050" cy="266700"/>
          </a:xfrm>
          <a:prstGeom prst="rect">
            <a:avLst/>
          </a:prstGeom>
          <a:noFill/>
          <a:ln/>
        </p:spPr>
        <p:txBody>
          <a:bodyPr wrap="square" lIns="0" tIns="0" rIns="0" bIns="0" rtlCol="0" anchor="ctr"/>
          <a:lstStyle/>
          <a:p>
            <a:pPr algn="ctr">
              <a:lnSpc>
                <a:spcPct val="120000"/>
              </a:lnSpc>
            </a:pPr>
            <a:r>
              <a:rPr lang="en-US" sz="1500" dirty="0">
                <a:solidFill>
                  <a:srgbClr val="86868B"/>
                </a:solidFill>
                <a:latin typeface="MiSans" pitchFamily="34" charset="0"/>
                <a:ea typeface="MiSans" pitchFamily="34" charset="-122"/>
                <a:cs typeface="MiSans" pitchFamily="34" charset="-120"/>
              </a:rPr>
              <a:t>Foundation of Programming with Generative AI</a:t>
            </a:r>
            <a:endParaRPr lang="en-US" sz="1600" dirty="0"/>
          </a:p>
        </p:txBody>
      </p:sp>
      <p:sp>
        <p:nvSpPr>
          <p:cNvPr id="8" name="Text 5"/>
          <p:cNvSpPr/>
          <p:nvPr/>
        </p:nvSpPr>
        <p:spPr>
          <a:xfrm>
            <a:off x="381000" y="6058297"/>
            <a:ext cx="1528829" cy="179917"/>
          </a:xfrm>
          <a:prstGeom prst="rect">
            <a:avLst/>
          </a:prstGeom>
          <a:noFill/>
          <a:ln/>
        </p:spPr>
        <p:txBody>
          <a:bodyPr wrap="square" lIns="0" tIns="0" rIns="0" bIns="0" rtlCol="0" anchor="ctr"/>
          <a:lstStyle/>
          <a:p>
            <a:pPr>
              <a:lnSpc>
                <a:spcPct val="120000"/>
              </a:lnSpc>
            </a:pPr>
            <a:r>
              <a:rPr lang="en-US" sz="1050" b="1" dirty="0">
                <a:solidFill>
                  <a:srgbClr val="1D1D1D"/>
                </a:solidFill>
                <a:latin typeface="MiSans" pitchFamily="34" charset="0"/>
                <a:ea typeface="MiSans" pitchFamily="34" charset="-122"/>
                <a:cs typeface="MiSans" pitchFamily="34" charset="-120"/>
              </a:rPr>
              <a:t>Trường Đại học Sài Gòn</a:t>
            </a:r>
            <a:endParaRPr lang="en-US" sz="1600" dirty="0"/>
          </a:p>
        </p:txBody>
      </p:sp>
      <p:sp>
        <p:nvSpPr>
          <p:cNvPr id="9" name="Text 6"/>
          <p:cNvSpPr/>
          <p:nvPr/>
        </p:nvSpPr>
        <p:spPr>
          <a:xfrm>
            <a:off x="381000" y="6286666"/>
            <a:ext cx="15335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MiSans" pitchFamily="34" charset="0"/>
                <a:ea typeface="MiSans" pitchFamily="34" charset="-122"/>
                <a:cs typeface="MiSans" pitchFamily="34" charset="-120"/>
              </a:rPr>
              <a:t>Lớp: DCT122C2 | 2026</a:t>
            </a:r>
            <a:endParaRPr lang="en-US" sz="1600" dirty="0"/>
          </a:p>
        </p:txBody>
      </p:sp>
      <p:sp>
        <p:nvSpPr>
          <p:cNvPr id="10" name="Text 7"/>
          <p:cNvSpPr/>
          <p:nvPr/>
        </p:nvSpPr>
        <p:spPr>
          <a:xfrm>
            <a:off x="7930026" y="6058297"/>
            <a:ext cx="3876675" cy="190500"/>
          </a:xfrm>
          <a:prstGeom prst="rect">
            <a:avLst/>
          </a:prstGeom>
          <a:noFill/>
          <a:ln/>
        </p:spPr>
        <p:txBody>
          <a:bodyPr wrap="square" lIns="0" tIns="0" rIns="0" bIns="0" rtlCol="0" anchor="ctr"/>
          <a:lstStyle/>
          <a:p>
            <a:pPr algn="r">
              <a:lnSpc>
                <a:spcPct val="120000"/>
              </a:lnSpc>
            </a:pPr>
            <a:r>
              <a:rPr lang="en-US" sz="1050" b="1" dirty="0">
                <a:solidFill>
                  <a:srgbClr val="1D1D1D"/>
                </a:solidFill>
                <a:latin typeface="MiSans" pitchFamily="34" charset="0"/>
                <a:ea typeface="MiSans" pitchFamily="34" charset="-122"/>
                <a:cs typeface="MiSans" pitchFamily="34" charset="-120"/>
              </a:rPr>
              <a:t>Giảng viên hướng dẫn:</a:t>
            </a:r>
            <a:pPr algn="r">
              <a:lnSpc>
                <a:spcPct val="120000"/>
              </a:lnSpc>
            </a:pPr>
            <a:r>
              <a:rPr lang="en-US" sz="1050" dirty="0">
                <a:solidFill>
                  <a:srgbClr val="86868B"/>
                </a:solidFill>
                <a:latin typeface="MiSans" pitchFamily="34" charset="0"/>
                <a:ea typeface="MiSans" pitchFamily="34" charset="-122"/>
                <a:cs typeface="MiSans" pitchFamily="34" charset="-120"/>
              </a:rPr>
              <a:t> TS. Đỗ Như Tài</a:t>
            </a:r>
            <a:endParaRPr lang="en-US" sz="1600" dirty="0"/>
          </a:p>
        </p:txBody>
      </p:sp>
      <p:sp>
        <p:nvSpPr>
          <p:cNvPr id="11" name="Text 8"/>
          <p:cNvSpPr/>
          <p:nvPr/>
        </p:nvSpPr>
        <p:spPr>
          <a:xfrm>
            <a:off x="7930026" y="6286666"/>
            <a:ext cx="3876675" cy="190500"/>
          </a:xfrm>
          <a:prstGeom prst="rect">
            <a:avLst/>
          </a:prstGeom>
          <a:noFill/>
          <a:ln/>
        </p:spPr>
        <p:txBody>
          <a:bodyPr wrap="square" lIns="0" tIns="0" rIns="0" bIns="0" rtlCol="0" anchor="ctr"/>
          <a:lstStyle/>
          <a:p>
            <a:pPr algn="r">
              <a:lnSpc>
                <a:spcPct val="120000"/>
              </a:lnSpc>
            </a:pPr>
            <a:r>
              <a:rPr lang="en-US" sz="1050" dirty="0">
                <a:solidFill>
                  <a:srgbClr val="86868B"/>
                </a:solidFill>
                <a:latin typeface="MiSans" pitchFamily="34" charset="0"/>
                <a:ea typeface="MiSans" pitchFamily="34" charset="-122"/>
                <a:cs typeface="MiSans" pitchFamily="34" charset="-120"/>
              </a:rPr>
              <a:t>Trương Quang Long | Huỳnh Trọng Phúc | Nguyễn Bá Vũ Khoa</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spc="105" kern="0" dirty="0">
                <a:solidFill>
                  <a:srgbClr val="86868B"/>
                </a:solidFill>
                <a:latin typeface="MiSans" pitchFamily="34" charset="0"/>
                <a:ea typeface="MiSans" pitchFamily="34" charset="-122"/>
                <a:cs typeface="MiSans" pitchFamily="34" charset="-120"/>
              </a:rPr>
              <a:t>Contents</a:t>
            </a:r>
            <a:endParaRPr lang="en-US" sz="1600" dirty="0"/>
          </a:p>
        </p:txBody>
      </p:sp>
      <p:sp>
        <p:nvSpPr>
          <p:cNvPr id="3" name="Text 1"/>
          <p:cNvSpPr/>
          <p:nvPr/>
        </p:nvSpPr>
        <p:spPr>
          <a:xfrm>
            <a:off x="381000" y="685601"/>
            <a:ext cx="11658600" cy="457200"/>
          </a:xfrm>
          <a:prstGeom prst="rect">
            <a:avLst/>
          </a:prstGeom>
          <a:noFill/>
          <a:ln/>
        </p:spPr>
        <p:txBody>
          <a:bodyPr wrap="square" lIns="0" tIns="0" rIns="0" bIns="0" rtlCol="0" anchor="ctr"/>
          <a:lstStyle/>
          <a:p>
            <a:pPr>
              <a:lnSpc>
                <a:spcPct val="80000"/>
              </a:lnSpc>
            </a:pPr>
            <a:r>
              <a:rPr lang="en-US" sz="3600" dirty="0">
                <a:solidFill>
                  <a:srgbClr val="1D1D1D"/>
                </a:solidFill>
                <a:latin typeface="Liter" pitchFamily="34" charset="0"/>
                <a:ea typeface="Liter" pitchFamily="34" charset="-122"/>
                <a:cs typeface="Liter" pitchFamily="34" charset="-120"/>
              </a:rPr>
              <a:t>Nội dung chính</a:t>
            </a:r>
            <a:endParaRPr lang="en-US" sz="1600" dirty="0"/>
          </a:p>
        </p:txBody>
      </p:sp>
      <p:sp>
        <p:nvSpPr>
          <p:cNvPr id="4" name="Text 2"/>
          <p:cNvSpPr/>
          <p:nvPr/>
        </p:nvSpPr>
        <p:spPr>
          <a:xfrm>
            <a:off x="381000" y="1599902"/>
            <a:ext cx="876300" cy="571500"/>
          </a:xfrm>
          <a:prstGeom prst="rect">
            <a:avLst/>
          </a:prstGeom>
          <a:noFill/>
          <a:ln/>
        </p:spPr>
        <p:txBody>
          <a:bodyPr wrap="square" lIns="0" tIns="0" rIns="0" bIns="0" rtlCol="0" anchor="ctr"/>
          <a:lstStyle/>
          <a:p>
            <a:pPr>
              <a:lnSpc>
                <a:spcPct val="80000"/>
              </a:lnSpc>
            </a:pPr>
            <a:r>
              <a:rPr lang="en-US" sz="4500" dirty="0">
                <a:solidFill>
                  <a:srgbClr val="E5E5E5"/>
                </a:solidFill>
                <a:latin typeface="Liter" pitchFamily="34" charset="0"/>
                <a:ea typeface="Liter" pitchFamily="34" charset="-122"/>
                <a:cs typeface="Liter" pitchFamily="34" charset="-120"/>
              </a:rPr>
              <a:t>01</a:t>
            </a:r>
            <a:endParaRPr lang="en-US" sz="1600" dirty="0"/>
          </a:p>
        </p:txBody>
      </p:sp>
      <p:sp>
        <p:nvSpPr>
          <p:cNvPr id="5" name="Text 3"/>
          <p:cNvSpPr/>
          <p:nvPr/>
        </p:nvSpPr>
        <p:spPr>
          <a:xfrm>
            <a:off x="1202862" y="1675970"/>
            <a:ext cx="4705350" cy="609600"/>
          </a:xfrm>
          <a:prstGeom prst="rect">
            <a:avLst/>
          </a:prstGeom>
          <a:noFill/>
          <a:ln/>
        </p:spPr>
        <p:txBody>
          <a:bodyPr wrap="square" lIns="0" tIns="0" rIns="0" bIns="0" rtlCol="0" anchor="ctr"/>
          <a:lstStyle/>
          <a:p>
            <a:pPr>
              <a:lnSpc>
                <a:spcPct val="110000"/>
              </a:lnSpc>
            </a:pPr>
            <a:r>
              <a:rPr lang="en-US" sz="1800" dirty="0">
                <a:solidFill>
                  <a:srgbClr val="1D1D1D"/>
                </a:solidFill>
                <a:latin typeface="MiSans" pitchFamily="34" charset="0"/>
                <a:ea typeface="MiSans" pitchFamily="34" charset="-122"/>
                <a:cs typeface="MiSans" pitchFamily="34" charset="-120"/>
              </a:rPr>
              <a:t>Từ Tự động hóa đến Chu kỳ Phát triển Phần mềm</a:t>
            </a:r>
            <a:endParaRPr lang="en-US" sz="1600" dirty="0"/>
          </a:p>
        </p:txBody>
      </p:sp>
      <p:sp>
        <p:nvSpPr>
          <p:cNvPr id="6" name="Text 4"/>
          <p:cNvSpPr/>
          <p:nvPr/>
        </p:nvSpPr>
        <p:spPr>
          <a:xfrm>
            <a:off x="1202862" y="2399440"/>
            <a:ext cx="46672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MiSans" pitchFamily="34" charset="0"/>
                <a:ea typeface="MiSans" pitchFamily="34" charset="-122"/>
                <a:cs typeface="MiSans" pitchFamily="34" charset="-120"/>
              </a:rPr>
              <a:t>Cơ hội hiện tại cho GenAI trong Software Development Life Cycle</a:t>
            </a:r>
            <a:endParaRPr lang="en-US" sz="1600" dirty="0"/>
          </a:p>
        </p:txBody>
      </p:sp>
      <p:sp>
        <p:nvSpPr>
          <p:cNvPr id="7" name="Text 5"/>
          <p:cNvSpPr/>
          <p:nvPr/>
        </p:nvSpPr>
        <p:spPr>
          <a:xfrm>
            <a:off x="6400767" y="1599902"/>
            <a:ext cx="981075" cy="571500"/>
          </a:xfrm>
          <a:prstGeom prst="rect">
            <a:avLst/>
          </a:prstGeom>
          <a:noFill/>
          <a:ln/>
        </p:spPr>
        <p:txBody>
          <a:bodyPr wrap="square" lIns="0" tIns="0" rIns="0" bIns="0" rtlCol="0" anchor="ctr"/>
          <a:lstStyle/>
          <a:p>
            <a:pPr>
              <a:lnSpc>
                <a:spcPct val="80000"/>
              </a:lnSpc>
            </a:pPr>
            <a:r>
              <a:rPr lang="en-US" sz="4500" dirty="0">
                <a:solidFill>
                  <a:srgbClr val="E5E5E5"/>
                </a:solidFill>
                <a:latin typeface="Liter" pitchFamily="34" charset="0"/>
                <a:ea typeface="Liter" pitchFamily="34" charset="-122"/>
                <a:cs typeface="Liter" pitchFamily="34" charset="-120"/>
              </a:rPr>
              <a:t>02</a:t>
            </a:r>
            <a:endParaRPr lang="en-US" sz="1600" dirty="0"/>
          </a:p>
        </p:txBody>
      </p:sp>
      <p:sp>
        <p:nvSpPr>
          <p:cNvPr id="8" name="Text 6"/>
          <p:cNvSpPr/>
          <p:nvPr/>
        </p:nvSpPr>
        <p:spPr>
          <a:xfrm>
            <a:off x="7325982" y="1675970"/>
            <a:ext cx="4600575" cy="304800"/>
          </a:xfrm>
          <a:prstGeom prst="rect">
            <a:avLst/>
          </a:prstGeom>
          <a:noFill/>
          <a:ln/>
        </p:spPr>
        <p:txBody>
          <a:bodyPr wrap="square" lIns="0" tIns="0" rIns="0" bIns="0" rtlCol="0" anchor="ctr"/>
          <a:lstStyle/>
          <a:p>
            <a:pPr>
              <a:lnSpc>
                <a:spcPct val="110000"/>
              </a:lnSpc>
            </a:pPr>
            <a:r>
              <a:rPr lang="en-US" sz="1800" dirty="0">
                <a:solidFill>
                  <a:srgbClr val="1D1D1D"/>
                </a:solidFill>
                <a:latin typeface="MiSans" pitchFamily="34" charset="0"/>
                <a:ea typeface="MiSans" pitchFamily="34" charset="-122"/>
                <a:cs typeface="MiSans" pitchFamily="34" charset="-120"/>
              </a:rPr>
              <a:t>Làm việc với API OpenAI</a:t>
            </a:r>
            <a:endParaRPr lang="en-US" sz="1600" dirty="0"/>
          </a:p>
        </p:txBody>
      </p:sp>
      <p:sp>
        <p:nvSpPr>
          <p:cNvPr id="9" name="Text 7"/>
          <p:cNvSpPr/>
          <p:nvPr/>
        </p:nvSpPr>
        <p:spPr>
          <a:xfrm>
            <a:off x="7325982" y="2094838"/>
            <a:ext cx="45624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MiSans" pitchFamily="34" charset="0"/>
                <a:ea typeface="MiSans" pitchFamily="34" charset="-122"/>
                <a:cs typeface="MiSans" pitchFamily="34" charset="-120"/>
              </a:rPr>
              <a:t>Tích hợp trí tuệ nhân tạo vào ứng dụng phần mềm</a:t>
            </a:r>
            <a:endParaRPr lang="en-US" sz="1600" dirty="0"/>
          </a:p>
        </p:txBody>
      </p:sp>
      <p:sp>
        <p:nvSpPr>
          <p:cNvPr id="10" name="Text 8"/>
          <p:cNvSpPr/>
          <p:nvPr/>
        </p:nvSpPr>
        <p:spPr>
          <a:xfrm>
            <a:off x="381000" y="3447686"/>
            <a:ext cx="990600" cy="571500"/>
          </a:xfrm>
          <a:prstGeom prst="rect">
            <a:avLst/>
          </a:prstGeom>
          <a:noFill/>
          <a:ln/>
        </p:spPr>
        <p:txBody>
          <a:bodyPr wrap="square" lIns="0" tIns="0" rIns="0" bIns="0" rtlCol="0" anchor="ctr"/>
          <a:lstStyle/>
          <a:p>
            <a:pPr>
              <a:lnSpc>
                <a:spcPct val="80000"/>
              </a:lnSpc>
            </a:pPr>
            <a:r>
              <a:rPr lang="en-US" sz="4500" dirty="0">
                <a:solidFill>
                  <a:srgbClr val="E5E5E5"/>
                </a:solidFill>
                <a:latin typeface="Liter" pitchFamily="34" charset="0"/>
                <a:ea typeface="Liter" pitchFamily="34" charset="-122"/>
                <a:cs typeface="Liter" pitchFamily="34" charset="-120"/>
              </a:rPr>
              <a:t>03</a:t>
            </a:r>
            <a:endParaRPr lang="en-US" sz="1600" dirty="0"/>
          </a:p>
        </p:txBody>
      </p:sp>
      <p:sp>
        <p:nvSpPr>
          <p:cNvPr id="11" name="Text 9"/>
          <p:cNvSpPr/>
          <p:nvPr/>
        </p:nvSpPr>
        <p:spPr>
          <a:xfrm>
            <a:off x="1311341" y="3523754"/>
            <a:ext cx="4591050" cy="304800"/>
          </a:xfrm>
          <a:prstGeom prst="rect">
            <a:avLst/>
          </a:prstGeom>
          <a:noFill/>
          <a:ln/>
        </p:spPr>
        <p:txBody>
          <a:bodyPr wrap="square" lIns="0" tIns="0" rIns="0" bIns="0" rtlCol="0" anchor="ctr"/>
          <a:lstStyle/>
          <a:p>
            <a:pPr>
              <a:lnSpc>
                <a:spcPct val="110000"/>
              </a:lnSpc>
            </a:pPr>
            <a:r>
              <a:rPr lang="en-US" sz="1800" dirty="0">
                <a:solidFill>
                  <a:srgbClr val="1D1D1D"/>
                </a:solidFill>
                <a:latin typeface="MiSans" pitchFamily="34" charset="0"/>
                <a:ea typeface="MiSans" pitchFamily="34" charset="-122"/>
                <a:cs typeface="MiSans" pitchFamily="34" charset="-120"/>
              </a:rPr>
              <a:t>Sử dụng GitHub Copilot</a:t>
            </a:r>
            <a:endParaRPr lang="en-US" sz="1600" dirty="0"/>
          </a:p>
        </p:txBody>
      </p:sp>
      <p:sp>
        <p:nvSpPr>
          <p:cNvPr id="12" name="Text 10"/>
          <p:cNvSpPr/>
          <p:nvPr/>
        </p:nvSpPr>
        <p:spPr>
          <a:xfrm>
            <a:off x="1311341" y="3942622"/>
            <a:ext cx="4552950" cy="495300"/>
          </a:xfrm>
          <a:prstGeom prst="rect">
            <a:avLst/>
          </a:prstGeom>
          <a:noFill/>
          <a:ln/>
        </p:spPr>
        <p:txBody>
          <a:bodyPr wrap="square" lIns="0" tIns="0" rIns="0" bIns="0" rtlCol="0" anchor="ctr"/>
          <a:lstStyle/>
          <a:p>
            <a:pPr>
              <a:lnSpc>
                <a:spcPct val="140000"/>
              </a:lnSpc>
            </a:pPr>
            <a:r>
              <a:rPr lang="en-US" sz="1200" dirty="0">
                <a:solidFill>
                  <a:srgbClr val="86868B"/>
                </a:solidFill>
                <a:latin typeface="MiSans" pitchFamily="34" charset="0"/>
                <a:ea typeface="MiSans" pitchFamily="34" charset="-122"/>
                <a:cs typeface="MiSans" pitchFamily="34" charset="-120"/>
              </a:rPr>
              <a:t>AI Pair Programmer trong PyCharm, VS Code và Jupyter Notebook</a:t>
            </a:r>
            <a:endParaRPr lang="en-US" sz="1600" dirty="0"/>
          </a:p>
        </p:txBody>
      </p:sp>
      <p:sp>
        <p:nvSpPr>
          <p:cNvPr id="13" name="Text 11"/>
          <p:cNvSpPr/>
          <p:nvPr/>
        </p:nvSpPr>
        <p:spPr>
          <a:xfrm>
            <a:off x="6400767" y="3447686"/>
            <a:ext cx="990600" cy="571500"/>
          </a:xfrm>
          <a:prstGeom prst="rect">
            <a:avLst/>
          </a:prstGeom>
          <a:noFill/>
          <a:ln/>
        </p:spPr>
        <p:txBody>
          <a:bodyPr wrap="square" lIns="0" tIns="0" rIns="0" bIns="0" rtlCol="0" anchor="ctr"/>
          <a:lstStyle/>
          <a:p>
            <a:pPr>
              <a:lnSpc>
                <a:spcPct val="80000"/>
              </a:lnSpc>
            </a:pPr>
            <a:r>
              <a:rPr lang="en-US" sz="4500" dirty="0">
                <a:solidFill>
                  <a:srgbClr val="E5E5E5"/>
                </a:solidFill>
                <a:latin typeface="Liter" pitchFamily="34" charset="0"/>
                <a:ea typeface="Liter" pitchFamily="34" charset="-122"/>
                <a:cs typeface="Liter" pitchFamily="34" charset="-120"/>
              </a:rPr>
              <a:t>04</a:t>
            </a:r>
            <a:endParaRPr lang="en-US" sz="1600" dirty="0"/>
          </a:p>
        </p:txBody>
      </p:sp>
      <p:sp>
        <p:nvSpPr>
          <p:cNvPr id="14" name="Text 12"/>
          <p:cNvSpPr/>
          <p:nvPr/>
        </p:nvSpPr>
        <p:spPr>
          <a:xfrm>
            <a:off x="7330612" y="3523754"/>
            <a:ext cx="4591050" cy="304800"/>
          </a:xfrm>
          <a:prstGeom prst="rect">
            <a:avLst/>
          </a:prstGeom>
          <a:noFill/>
          <a:ln/>
        </p:spPr>
        <p:txBody>
          <a:bodyPr wrap="square" lIns="0" tIns="0" rIns="0" bIns="0" rtlCol="0" anchor="ctr"/>
          <a:lstStyle/>
          <a:p>
            <a:pPr>
              <a:lnSpc>
                <a:spcPct val="110000"/>
              </a:lnSpc>
            </a:pPr>
            <a:r>
              <a:rPr lang="en-US" sz="1800" dirty="0">
                <a:solidFill>
                  <a:srgbClr val="1D1D1D"/>
                </a:solidFill>
                <a:latin typeface="MiSans" pitchFamily="34" charset="0"/>
                <a:ea typeface="MiSans" pitchFamily="34" charset="-122"/>
                <a:cs typeface="MiSans" pitchFamily="34" charset="-120"/>
              </a:rPr>
              <a:t>Phương pháp tốt nhất với ChatGPT</a:t>
            </a:r>
            <a:endParaRPr lang="en-US" sz="1600" dirty="0"/>
          </a:p>
        </p:txBody>
      </p:sp>
      <p:sp>
        <p:nvSpPr>
          <p:cNvPr id="15" name="Text 13"/>
          <p:cNvSpPr/>
          <p:nvPr/>
        </p:nvSpPr>
        <p:spPr>
          <a:xfrm>
            <a:off x="7330612" y="3942622"/>
            <a:ext cx="4552950"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MiSans" pitchFamily="34" charset="0"/>
                <a:ea typeface="MiSans" pitchFamily="34" charset="-122"/>
                <a:cs typeface="MiSans" pitchFamily="34" charset="-120"/>
              </a:rPr>
              <a:t>Prompt Engineering cho kết quả chất lượng cao</a:t>
            </a:r>
            <a:endParaRPr lang="en-US" sz="1600" dirty="0"/>
          </a:p>
        </p:txBody>
      </p:sp>
      <p:sp>
        <p:nvSpPr>
          <p:cNvPr id="16" name="Text 14"/>
          <p:cNvSpPr/>
          <p:nvPr/>
        </p:nvSpPr>
        <p:spPr>
          <a:xfrm>
            <a:off x="381000" y="5238585"/>
            <a:ext cx="981075" cy="571500"/>
          </a:xfrm>
          <a:prstGeom prst="rect">
            <a:avLst/>
          </a:prstGeom>
          <a:noFill/>
          <a:ln/>
        </p:spPr>
        <p:txBody>
          <a:bodyPr wrap="square" lIns="0" tIns="0" rIns="0" bIns="0" rtlCol="0" anchor="ctr"/>
          <a:lstStyle/>
          <a:p>
            <a:pPr>
              <a:lnSpc>
                <a:spcPct val="80000"/>
              </a:lnSpc>
            </a:pPr>
            <a:r>
              <a:rPr lang="en-US" sz="4500" dirty="0">
                <a:solidFill>
                  <a:srgbClr val="E5E5E5"/>
                </a:solidFill>
                <a:latin typeface="Liter" pitchFamily="34" charset="0"/>
                <a:ea typeface="Liter" pitchFamily="34" charset="-122"/>
                <a:cs typeface="Liter" pitchFamily="34" charset="-120"/>
              </a:rPr>
              <a:t>05</a:t>
            </a:r>
            <a:endParaRPr lang="en-US" sz="1600" dirty="0"/>
          </a:p>
        </p:txBody>
      </p:sp>
      <p:sp>
        <p:nvSpPr>
          <p:cNvPr id="17" name="Text 15"/>
          <p:cNvSpPr/>
          <p:nvPr/>
        </p:nvSpPr>
        <p:spPr>
          <a:xfrm>
            <a:off x="1303404" y="5314652"/>
            <a:ext cx="10620375" cy="304800"/>
          </a:xfrm>
          <a:prstGeom prst="rect">
            <a:avLst/>
          </a:prstGeom>
          <a:noFill/>
          <a:ln/>
        </p:spPr>
        <p:txBody>
          <a:bodyPr wrap="square" lIns="0" tIns="0" rIns="0" bIns="0" rtlCol="0" anchor="ctr"/>
          <a:lstStyle/>
          <a:p>
            <a:pPr>
              <a:lnSpc>
                <a:spcPct val="110000"/>
              </a:lnSpc>
            </a:pPr>
            <a:r>
              <a:rPr lang="en-US" sz="1800" dirty="0">
                <a:solidFill>
                  <a:srgbClr val="1D1D1D"/>
                </a:solidFill>
                <a:latin typeface="MiSans" pitchFamily="34" charset="0"/>
                <a:ea typeface="MiSans" pitchFamily="34" charset="-122"/>
                <a:cs typeface="MiSans" pitchFamily="34" charset="-120"/>
              </a:rPr>
              <a:t>Prompt Engineering với API &amp; Copilot</a:t>
            </a:r>
            <a:endParaRPr lang="en-US" sz="1600" dirty="0"/>
          </a:p>
        </p:txBody>
      </p:sp>
      <p:sp>
        <p:nvSpPr>
          <p:cNvPr id="18" name="Text 16"/>
          <p:cNvSpPr/>
          <p:nvPr/>
        </p:nvSpPr>
        <p:spPr>
          <a:xfrm>
            <a:off x="1303404" y="5733521"/>
            <a:ext cx="10582275" cy="247650"/>
          </a:xfrm>
          <a:prstGeom prst="rect">
            <a:avLst/>
          </a:prstGeom>
          <a:noFill/>
          <a:ln/>
        </p:spPr>
        <p:txBody>
          <a:bodyPr wrap="square" lIns="0" tIns="0" rIns="0" bIns="0" rtlCol="0" anchor="ctr"/>
          <a:lstStyle/>
          <a:p>
            <a:pPr>
              <a:lnSpc>
                <a:spcPct val="140000"/>
              </a:lnSpc>
            </a:pPr>
            <a:r>
              <a:rPr lang="en-US" sz="1200" dirty="0">
                <a:solidFill>
                  <a:srgbClr val="86868B"/>
                </a:solidFill>
                <a:latin typeface="MiSans" pitchFamily="34" charset="0"/>
                <a:ea typeface="MiSans" pitchFamily="34" charset="-122"/>
                <a:cs typeface="MiSans" pitchFamily="34" charset="-120"/>
              </a:rPr>
              <a:t>Áp dụng kỹ thuật prompt trong môi trường lập trình thực tế</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p:bgPr>
    </p:bg>
    <p:spTree>
      <p:nvGrpSpPr>
        <p:cNvPr id="1" name=""/>
        <p:cNvGrpSpPr/>
        <p:nvPr/>
      </p:nvGrpSpPr>
      <p:grpSpPr>
        <a:xfrm>
          <a:off x="0" y="0"/>
          <a:ext cx="0" cy="0"/>
          <a:chOff x="0" y="0"/>
          <a:chExt cx="0" cy="0"/>
        </a:xfrm>
      </p:grpSpPr>
      <p:pic>
        <p:nvPicPr>
          <p:cNvPr id="2" name="Image 0" descr="https://kimi-web-img.moonshot.cn/img/www.orientsoftware.com/1857e1a2710ce61322c8e59665f9ab436543749d.webp">    </p:cNvPr>
          <p:cNvPicPr>
            <a:picLocks noChangeAspect="1"/>
          </p:cNvPicPr>
          <p:nvPr/>
        </p:nvPicPr>
        <p:blipFill>
          <a:blip r:embed="rId1">
            <a:alphaModFix amt="5000"/>
          </a:blip>
          <a:srcRect l="44" r="44" t="0" b="0"/>
          <a:stretch/>
        </p:blipFill>
        <p:spPr>
          <a:xfrm>
            <a:off x="0" y="0"/>
            <a:ext cx="12192000" cy="6858000"/>
          </a:xfrm>
          <a:prstGeom prst="roundRect">
            <a:avLst>
              <a:gd name="adj" fmla="val 0"/>
            </a:avLst>
          </a:prstGeom>
        </p:spPr>
      </p:pic>
      <p:sp>
        <p:nvSpPr>
          <p:cNvPr id="3" name="Text 0"/>
          <p:cNvSpPr/>
          <p:nvPr/>
        </p:nvSpPr>
        <p:spPr>
          <a:xfrm>
            <a:off x="381000" y="1447933"/>
            <a:ext cx="1409700" cy="914400"/>
          </a:xfrm>
          <a:prstGeom prst="rect">
            <a:avLst/>
          </a:prstGeom>
          <a:noFill/>
          <a:ln/>
        </p:spPr>
        <p:txBody>
          <a:bodyPr wrap="square" lIns="0" tIns="0" rIns="0" bIns="0" rtlCol="0" anchor="ctr"/>
          <a:lstStyle/>
          <a:p>
            <a:pPr>
              <a:lnSpc>
                <a:spcPct val="80000"/>
              </a:lnSpc>
            </a:pPr>
            <a:r>
              <a:rPr lang="en-US" sz="7200" dirty="0">
                <a:solidFill>
                  <a:srgbClr val="E5E5E5"/>
                </a:solidFill>
                <a:latin typeface="Liter" pitchFamily="34" charset="0"/>
                <a:ea typeface="Liter" pitchFamily="34" charset="-122"/>
                <a:cs typeface="Liter" pitchFamily="34" charset="-120"/>
              </a:rPr>
              <a:t>01</a:t>
            </a:r>
            <a:endParaRPr lang="en-US" sz="1600" dirty="0"/>
          </a:p>
        </p:txBody>
      </p:sp>
      <p:sp>
        <p:nvSpPr>
          <p:cNvPr id="4" name="Shape 1"/>
          <p:cNvSpPr/>
          <p:nvPr/>
        </p:nvSpPr>
        <p:spPr>
          <a:xfrm>
            <a:off x="1558727" y="1447933"/>
            <a:ext cx="9525" cy="914400"/>
          </a:xfrm>
          <a:custGeom>
            <a:avLst/>
            <a:gdLst/>
            <a:ahLst/>
            <a:cxnLst/>
            <a:rect l="l" t="t" r="r" b="b"/>
            <a:pathLst>
              <a:path w="9525" h="914400">
                <a:moveTo>
                  <a:pt x="0" y="0"/>
                </a:moveTo>
                <a:lnTo>
                  <a:pt x="9525" y="0"/>
                </a:lnTo>
                <a:lnTo>
                  <a:pt x="9525" y="914400"/>
                </a:lnTo>
                <a:lnTo>
                  <a:pt x="0" y="914400"/>
                </a:lnTo>
                <a:lnTo>
                  <a:pt x="0" y="0"/>
                </a:lnTo>
                <a:close/>
              </a:path>
            </a:pathLst>
          </a:custGeom>
          <a:solidFill>
            <a:srgbClr val="E5E5E5"/>
          </a:solidFill>
          <a:ln/>
        </p:spPr>
      </p:sp>
      <p:sp>
        <p:nvSpPr>
          <p:cNvPr id="5" name="Text 2"/>
          <p:cNvSpPr/>
          <p:nvPr/>
        </p:nvSpPr>
        <p:spPr>
          <a:xfrm>
            <a:off x="381000" y="2667165"/>
            <a:ext cx="7153275" cy="2143125"/>
          </a:xfrm>
          <a:prstGeom prst="rect">
            <a:avLst/>
          </a:prstGeom>
          <a:noFill/>
          <a:ln/>
        </p:spPr>
        <p:txBody>
          <a:bodyPr wrap="square" lIns="0" tIns="0" rIns="0" bIns="0" rtlCol="0" anchor="ctr"/>
          <a:lstStyle/>
          <a:p>
            <a:pPr>
              <a:lnSpc>
                <a:spcPct val="100000"/>
              </a:lnSpc>
            </a:pPr>
            <a:r>
              <a:rPr lang="en-US" sz="4500" dirty="0">
                <a:solidFill>
                  <a:srgbClr val="1D1D1D"/>
                </a:solidFill>
                <a:latin typeface="Liter" pitchFamily="34" charset="0"/>
                <a:ea typeface="Liter" pitchFamily="34" charset="-122"/>
                <a:cs typeface="Liter" pitchFamily="34" charset="-120"/>
              </a:rPr>
              <a:t>Từ Tự động hóa</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đến Chu kỳ</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Phát triển Phần mềm</a:t>
            </a:r>
            <a:endParaRPr lang="en-US" sz="1600" dirty="0"/>
          </a:p>
        </p:txBody>
      </p:sp>
      <p:sp>
        <p:nvSpPr>
          <p:cNvPr id="6" name="Text 3"/>
          <p:cNvSpPr/>
          <p:nvPr/>
        </p:nvSpPr>
        <p:spPr>
          <a:xfrm>
            <a:off x="381000" y="5038825"/>
            <a:ext cx="6981825"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MiSans" pitchFamily="34" charset="0"/>
                <a:ea typeface="MiSans" pitchFamily="34" charset="-122"/>
                <a:cs typeface="MiSans" pitchFamily="34" charset="-120"/>
              </a:rPr>
              <a:t>Cơ hội hiện tại cho GenAI trong Software Development Life Cycle</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spc="88" kern="0" dirty="0">
                <a:solidFill>
                  <a:srgbClr val="86868B"/>
                </a:solidFill>
                <a:latin typeface="MiSans" pitchFamily="34" charset="0"/>
                <a:ea typeface="MiSans" pitchFamily="34" charset="-122"/>
                <a:cs typeface="MiSans" pitchFamily="34" charset="-120"/>
              </a:rPr>
              <a:t>Chapter 01</a:t>
            </a:r>
            <a:endParaRPr lang="en-US" sz="1600" dirty="0"/>
          </a:p>
        </p:txBody>
      </p:sp>
      <p:sp>
        <p:nvSpPr>
          <p:cNvPr id="3" name="Text 1"/>
          <p:cNvSpPr/>
          <p:nvPr/>
        </p:nvSpPr>
        <p:spPr>
          <a:xfrm>
            <a:off x="317500" y="539502"/>
            <a:ext cx="11699875" cy="317500"/>
          </a:xfrm>
          <a:prstGeom prst="rect">
            <a:avLst/>
          </a:prstGeom>
          <a:noFill/>
          <a:ln/>
        </p:spPr>
        <p:txBody>
          <a:bodyPr wrap="square" lIns="0" tIns="0" rIns="0" bIns="0" rtlCol="0" anchor="ctr"/>
          <a:lstStyle/>
          <a:p>
            <a:pPr>
              <a:lnSpc>
                <a:spcPct val="90000"/>
              </a:lnSpc>
            </a:pPr>
            <a:r>
              <a:rPr lang="en-US" sz="2250" dirty="0">
                <a:solidFill>
                  <a:srgbClr val="1D1D1D"/>
                </a:solidFill>
                <a:latin typeface="Liter" pitchFamily="34" charset="0"/>
                <a:ea typeface="Liter" pitchFamily="34" charset="-122"/>
                <a:cs typeface="Liter" pitchFamily="34" charset="-120"/>
              </a:rPr>
              <a:t>GenAI và Sự thay đổi ngành Kỹ thuật Phần mềm</a:t>
            </a:r>
            <a:endParaRPr lang="en-US" sz="1600" dirty="0"/>
          </a:p>
        </p:txBody>
      </p:sp>
      <p:sp>
        <p:nvSpPr>
          <p:cNvPr id="4" name="Shape 2"/>
          <p:cNvSpPr/>
          <p:nvPr/>
        </p:nvSpPr>
        <p:spPr>
          <a:xfrm>
            <a:off x="317500" y="1401135"/>
            <a:ext cx="7620000" cy="8819"/>
          </a:xfrm>
          <a:custGeom>
            <a:avLst/>
            <a:gdLst/>
            <a:ahLst/>
            <a:cxnLst/>
            <a:rect l="l" t="t" r="r" b="b"/>
            <a:pathLst>
              <a:path w="7620000" h="8819">
                <a:moveTo>
                  <a:pt x="0" y="0"/>
                </a:moveTo>
                <a:lnTo>
                  <a:pt x="7620000" y="0"/>
                </a:lnTo>
                <a:lnTo>
                  <a:pt x="7620000" y="8819"/>
                </a:lnTo>
                <a:lnTo>
                  <a:pt x="0" y="8819"/>
                </a:lnTo>
                <a:lnTo>
                  <a:pt x="0" y="0"/>
                </a:lnTo>
                <a:close/>
              </a:path>
            </a:pathLst>
          </a:custGeom>
          <a:solidFill>
            <a:srgbClr val="E5E5E5"/>
          </a:solidFill>
          <a:ln/>
        </p:spPr>
      </p:sp>
      <p:sp>
        <p:nvSpPr>
          <p:cNvPr id="5" name="Text 3"/>
          <p:cNvSpPr/>
          <p:nvPr/>
        </p:nvSpPr>
        <p:spPr>
          <a:xfrm>
            <a:off x="317500" y="1110975"/>
            <a:ext cx="7699375" cy="285750"/>
          </a:xfrm>
          <a:prstGeom prst="rect">
            <a:avLst/>
          </a:prstGeom>
          <a:noFill/>
          <a:ln/>
        </p:spPr>
        <p:txBody>
          <a:bodyPr wrap="square" lIns="0" tIns="0" rIns="0" bIns="63500" rtlCol="0" anchor="ctr"/>
          <a:lstStyle/>
          <a:p>
            <a:pPr>
              <a:lnSpc>
                <a:spcPct val="120000"/>
              </a:lnSpc>
            </a:pPr>
            <a:r>
              <a:rPr lang="en-US" sz="1250" dirty="0">
                <a:solidFill>
                  <a:srgbClr val="1D1D1D"/>
                </a:solidFill>
                <a:latin typeface="MiSans" pitchFamily="34" charset="0"/>
                <a:ea typeface="MiSans" pitchFamily="34" charset="-122"/>
                <a:cs typeface="MiSans" pitchFamily="34" charset="-120"/>
              </a:rPr>
              <a:t>Sự bùng nổ của GenAI</a:t>
            </a:r>
            <a:endParaRPr lang="en-US" sz="1600" dirty="0"/>
          </a:p>
        </p:txBody>
      </p:sp>
      <p:sp>
        <p:nvSpPr>
          <p:cNvPr id="6" name="Text 4"/>
          <p:cNvSpPr/>
          <p:nvPr/>
        </p:nvSpPr>
        <p:spPr>
          <a:xfrm>
            <a:off x="317500" y="1532242"/>
            <a:ext cx="7683500" cy="412750"/>
          </a:xfrm>
          <a:prstGeom prst="rect">
            <a:avLst/>
          </a:prstGeom>
          <a:noFill/>
          <a:ln/>
        </p:spPr>
        <p:txBody>
          <a:bodyPr wrap="square" lIns="0" tIns="0" rIns="0" bIns="0" rtlCol="0" anchor="ctr"/>
          <a:lstStyle/>
          <a:p>
            <a:pPr>
              <a:lnSpc>
                <a:spcPct val="140000"/>
              </a:lnSpc>
            </a:pPr>
            <a:r>
              <a:rPr lang="en-US" sz="1000" dirty="0">
                <a:solidFill>
                  <a:srgbClr val="1D1D1D"/>
                </a:solidFill>
                <a:latin typeface="MiSans" pitchFamily="34" charset="0"/>
                <a:ea typeface="MiSans" pitchFamily="34" charset="-122"/>
                <a:cs typeface="MiSans" pitchFamily="34" charset="-120"/>
              </a:rPr>
              <a:t>Trí tuệ nhân tạo tạo sinh đang tái định nghĩa toàn bộ chu kỳ phát triển phần mềm, từ viết code đến kiểm thử và vận hành hệ thống. Đây là "điểm bùng phát" về năng suất cho ngành phần mềm.</a:t>
            </a:r>
            <a:endParaRPr lang="en-US" sz="1600" dirty="0"/>
          </a:p>
        </p:txBody>
      </p:sp>
      <p:sp>
        <p:nvSpPr>
          <p:cNvPr id="7" name="Shape 5"/>
          <p:cNvSpPr/>
          <p:nvPr/>
        </p:nvSpPr>
        <p:spPr>
          <a:xfrm>
            <a:off x="317500" y="2552624"/>
            <a:ext cx="7620000" cy="8819"/>
          </a:xfrm>
          <a:custGeom>
            <a:avLst/>
            <a:gdLst/>
            <a:ahLst/>
            <a:cxnLst/>
            <a:rect l="l" t="t" r="r" b="b"/>
            <a:pathLst>
              <a:path w="7620000" h="8819">
                <a:moveTo>
                  <a:pt x="0" y="0"/>
                </a:moveTo>
                <a:lnTo>
                  <a:pt x="7620000" y="0"/>
                </a:lnTo>
                <a:lnTo>
                  <a:pt x="7620000" y="8819"/>
                </a:lnTo>
                <a:lnTo>
                  <a:pt x="0" y="8819"/>
                </a:lnTo>
                <a:lnTo>
                  <a:pt x="0" y="0"/>
                </a:lnTo>
                <a:close/>
              </a:path>
            </a:pathLst>
          </a:custGeom>
          <a:solidFill>
            <a:srgbClr val="E5E5E5"/>
          </a:solidFill>
          <a:ln/>
        </p:spPr>
      </p:sp>
      <p:sp>
        <p:nvSpPr>
          <p:cNvPr id="8" name="Text 6"/>
          <p:cNvSpPr/>
          <p:nvPr/>
        </p:nvSpPr>
        <p:spPr>
          <a:xfrm>
            <a:off x="317500" y="2262465"/>
            <a:ext cx="7699375" cy="285750"/>
          </a:xfrm>
          <a:prstGeom prst="rect">
            <a:avLst/>
          </a:prstGeom>
          <a:noFill/>
          <a:ln/>
        </p:spPr>
        <p:txBody>
          <a:bodyPr wrap="square" lIns="0" tIns="0" rIns="0" bIns="63500" rtlCol="0" anchor="ctr"/>
          <a:lstStyle/>
          <a:p>
            <a:pPr>
              <a:lnSpc>
                <a:spcPct val="120000"/>
              </a:lnSpc>
            </a:pPr>
            <a:r>
              <a:rPr lang="en-US" sz="1250" dirty="0">
                <a:solidFill>
                  <a:srgbClr val="1D1D1D"/>
                </a:solidFill>
                <a:latin typeface="MiSans" pitchFamily="34" charset="0"/>
                <a:ea typeface="MiSans" pitchFamily="34" charset="-122"/>
                <a:cs typeface="MiSans" pitchFamily="34" charset="-120"/>
              </a:rPr>
              <a:t>Các công cụ phát triển phần mềm</a:t>
            </a:r>
            <a:endParaRPr lang="en-US" sz="1600" dirty="0"/>
          </a:p>
        </p:txBody>
      </p:sp>
      <p:sp>
        <p:nvSpPr>
          <p:cNvPr id="9" name="Text 7"/>
          <p:cNvSpPr/>
          <p:nvPr/>
        </p:nvSpPr>
        <p:spPr>
          <a:xfrm>
            <a:off x="317500" y="2683730"/>
            <a:ext cx="38100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IDE</a:t>
            </a:r>
            <a:endParaRPr lang="en-US" sz="1600" dirty="0"/>
          </a:p>
        </p:txBody>
      </p:sp>
      <p:sp>
        <p:nvSpPr>
          <p:cNvPr id="10" name="Text 8"/>
          <p:cNvSpPr/>
          <p:nvPr/>
        </p:nvSpPr>
        <p:spPr>
          <a:xfrm>
            <a:off x="317500" y="2906007"/>
            <a:ext cx="3802062"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VS Code, PyCharm, Spyder</a:t>
            </a:r>
            <a:endParaRPr lang="en-US" sz="1600" dirty="0"/>
          </a:p>
        </p:txBody>
      </p:sp>
      <p:sp>
        <p:nvSpPr>
          <p:cNvPr id="11" name="Text 9"/>
          <p:cNvSpPr/>
          <p:nvPr/>
        </p:nvSpPr>
        <p:spPr>
          <a:xfrm>
            <a:off x="4190890" y="2683730"/>
            <a:ext cx="38100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Version Control</a:t>
            </a:r>
            <a:endParaRPr lang="en-US" sz="1600" dirty="0"/>
          </a:p>
        </p:txBody>
      </p:sp>
      <p:sp>
        <p:nvSpPr>
          <p:cNvPr id="12" name="Text 10"/>
          <p:cNvSpPr/>
          <p:nvPr/>
        </p:nvSpPr>
        <p:spPr>
          <a:xfrm>
            <a:off x="4190890" y="2906007"/>
            <a:ext cx="3802062"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Git, GitHub</a:t>
            </a:r>
            <a:endParaRPr lang="en-US" sz="1600" dirty="0"/>
          </a:p>
        </p:txBody>
      </p:sp>
      <p:sp>
        <p:nvSpPr>
          <p:cNvPr id="13" name="Text 11"/>
          <p:cNvSpPr/>
          <p:nvPr/>
        </p:nvSpPr>
        <p:spPr>
          <a:xfrm>
            <a:off x="317500" y="3191538"/>
            <a:ext cx="38100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CI/CD</a:t>
            </a:r>
            <a:endParaRPr lang="en-US" sz="1600" dirty="0"/>
          </a:p>
        </p:txBody>
      </p:sp>
      <p:sp>
        <p:nvSpPr>
          <p:cNvPr id="14" name="Text 12"/>
          <p:cNvSpPr/>
          <p:nvPr/>
        </p:nvSpPr>
        <p:spPr>
          <a:xfrm>
            <a:off x="317500" y="3413815"/>
            <a:ext cx="3802062"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Jenkins, Maven</a:t>
            </a:r>
            <a:endParaRPr lang="en-US" sz="1600" dirty="0"/>
          </a:p>
        </p:txBody>
      </p:sp>
      <p:sp>
        <p:nvSpPr>
          <p:cNvPr id="15" name="Text 13"/>
          <p:cNvSpPr/>
          <p:nvPr/>
        </p:nvSpPr>
        <p:spPr>
          <a:xfrm>
            <a:off x="4190890" y="3191538"/>
            <a:ext cx="38100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Testing</a:t>
            </a:r>
            <a:endParaRPr lang="en-US" sz="1600" dirty="0"/>
          </a:p>
        </p:txBody>
      </p:sp>
      <p:sp>
        <p:nvSpPr>
          <p:cNvPr id="16" name="Text 14"/>
          <p:cNvSpPr/>
          <p:nvPr/>
        </p:nvSpPr>
        <p:spPr>
          <a:xfrm>
            <a:off x="4190890" y="3413815"/>
            <a:ext cx="3802062"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SonarQube, ReSharper</a:t>
            </a:r>
            <a:endParaRPr lang="en-US" sz="1600" dirty="0"/>
          </a:p>
        </p:txBody>
      </p:sp>
      <p:sp>
        <p:nvSpPr>
          <p:cNvPr id="17" name="Shape 15"/>
          <p:cNvSpPr/>
          <p:nvPr/>
        </p:nvSpPr>
        <p:spPr>
          <a:xfrm>
            <a:off x="317500" y="4053031"/>
            <a:ext cx="7620000" cy="8819"/>
          </a:xfrm>
          <a:custGeom>
            <a:avLst/>
            <a:gdLst/>
            <a:ahLst/>
            <a:cxnLst/>
            <a:rect l="l" t="t" r="r" b="b"/>
            <a:pathLst>
              <a:path w="7620000" h="8819">
                <a:moveTo>
                  <a:pt x="0" y="0"/>
                </a:moveTo>
                <a:lnTo>
                  <a:pt x="7620000" y="0"/>
                </a:lnTo>
                <a:lnTo>
                  <a:pt x="7620000" y="8819"/>
                </a:lnTo>
                <a:lnTo>
                  <a:pt x="0" y="8819"/>
                </a:lnTo>
                <a:lnTo>
                  <a:pt x="0" y="0"/>
                </a:lnTo>
                <a:close/>
              </a:path>
            </a:pathLst>
          </a:custGeom>
          <a:solidFill>
            <a:srgbClr val="E5E5E5"/>
          </a:solidFill>
          <a:ln/>
        </p:spPr>
      </p:sp>
      <p:sp>
        <p:nvSpPr>
          <p:cNvPr id="18" name="Text 16"/>
          <p:cNvSpPr/>
          <p:nvPr/>
        </p:nvSpPr>
        <p:spPr>
          <a:xfrm>
            <a:off x="317500" y="3762871"/>
            <a:ext cx="7699375" cy="285750"/>
          </a:xfrm>
          <a:prstGeom prst="rect">
            <a:avLst/>
          </a:prstGeom>
          <a:noFill/>
          <a:ln/>
        </p:spPr>
        <p:txBody>
          <a:bodyPr wrap="square" lIns="0" tIns="0" rIns="0" bIns="63500" rtlCol="0" anchor="ctr"/>
          <a:lstStyle/>
          <a:p>
            <a:pPr>
              <a:lnSpc>
                <a:spcPct val="120000"/>
              </a:lnSpc>
            </a:pPr>
            <a:r>
              <a:rPr lang="en-US" sz="1250" dirty="0">
                <a:solidFill>
                  <a:srgbClr val="1D1D1D"/>
                </a:solidFill>
                <a:latin typeface="MiSans" pitchFamily="34" charset="0"/>
                <a:ea typeface="MiSans" pitchFamily="34" charset="-122"/>
                <a:cs typeface="MiSans" pitchFamily="34" charset="-120"/>
              </a:rPr>
              <a:t>Các mô hình ngôn ngữ lớn (LLMs)</a:t>
            </a:r>
            <a:endParaRPr lang="en-US" sz="1600" dirty="0"/>
          </a:p>
        </p:txBody>
      </p:sp>
      <p:sp>
        <p:nvSpPr>
          <p:cNvPr id="19" name="Text 17"/>
          <p:cNvSpPr/>
          <p:nvPr/>
        </p:nvSpPr>
        <p:spPr>
          <a:xfrm>
            <a:off x="317500" y="4184138"/>
            <a:ext cx="7683500" cy="412750"/>
          </a:xfrm>
          <a:prstGeom prst="rect">
            <a:avLst/>
          </a:prstGeom>
          <a:noFill/>
          <a:ln/>
        </p:spPr>
        <p:txBody>
          <a:bodyPr wrap="square" lIns="0" tIns="0" rIns="0" bIns="0" rtlCol="0" anchor="ctr"/>
          <a:lstStyle/>
          <a:p>
            <a:pPr>
              <a:lnSpc>
                <a:spcPct val="140000"/>
              </a:lnSpc>
            </a:pPr>
            <a:r>
              <a:rPr lang="en-US" sz="1000" dirty="0">
                <a:solidFill>
                  <a:srgbClr val="1D1D1D"/>
                </a:solidFill>
                <a:latin typeface="MiSans" pitchFamily="34" charset="0"/>
                <a:ea typeface="MiSans" pitchFamily="34" charset="-122"/>
                <a:cs typeface="MiSans" pitchFamily="34" charset="-120"/>
              </a:rPr>
              <a:t>GPT, Llama, Gemini, Claude - các mô hình được huấn luyện trên khối lượng dữ liệu khổng lồ, hiểu sâu sắc logic lập trình và hỗ trợ viết code vượt trội.</a:t>
            </a:r>
            <a:endParaRPr lang="en-US" sz="1600" dirty="0"/>
          </a:p>
        </p:txBody>
      </p:sp>
      <p:sp>
        <p:nvSpPr>
          <p:cNvPr id="20" name="Shape 18"/>
          <p:cNvSpPr/>
          <p:nvPr/>
        </p:nvSpPr>
        <p:spPr>
          <a:xfrm>
            <a:off x="8195745" y="1115385"/>
            <a:ext cx="3675944" cy="3033007"/>
          </a:xfrm>
          <a:custGeom>
            <a:avLst/>
            <a:gdLst/>
            <a:ahLst/>
            <a:cxnLst/>
            <a:rect l="l" t="t" r="r" b="b"/>
            <a:pathLst>
              <a:path w="3675944" h="3033007">
                <a:moveTo>
                  <a:pt x="0" y="0"/>
                </a:moveTo>
                <a:lnTo>
                  <a:pt x="3675944" y="0"/>
                </a:lnTo>
                <a:lnTo>
                  <a:pt x="3675944" y="3033007"/>
                </a:lnTo>
                <a:lnTo>
                  <a:pt x="0" y="3033007"/>
                </a:lnTo>
                <a:lnTo>
                  <a:pt x="0" y="0"/>
                </a:lnTo>
                <a:close/>
              </a:path>
            </a:pathLst>
          </a:custGeom>
          <a:solidFill>
            <a:srgbClr val="000000">
              <a:alpha val="0"/>
            </a:srgbClr>
          </a:solidFill>
          <a:ln w="14111">
            <a:solidFill>
              <a:srgbClr val="E5E5E5"/>
            </a:solidFill>
            <a:prstDash val="solid"/>
          </a:ln>
        </p:spPr>
      </p:sp>
      <p:sp>
        <p:nvSpPr>
          <p:cNvPr id="21" name="Text 19"/>
          <p:cNvSpPr/>
          <p:nvPr/>
        </p:nvSpPr>
        <p:spPr>
          <a:xfrm>
            <a:off x="8390599" y="1310240"/>
            <a:ext cx="3357563" cy="222250"/>
          </a:xfrm>
          <a:prstGeom prst="rect">
            <a:avLst/>
          </a:prstGeom>
          <a:noFill/>
          <a:ln/>
        </p:spPr>
        <p:txBody>
          <a:bodyPr wrap="square" lIns="0" tIns="0" rIns="0" bIns="0" rtlCol="0" anchor="ctr"/>
          <a:lstStyle/>
          <a:p>
            <a:pPr>
              <a:lnSpc>
                <a:spcPct val="130000"/>
              </a:lnSpc>
            </a:pPr>
            <a:r>
              <a:rPr lang="en-US" sz="1125" dirty="0">
                <a:solidFill>
                  <a:srgbClr val="1D1D1D"/>
                </a:solidFill>
                <a:latin typeface="MiSans" pitchFamily="34" charset="0"/>
                <a:ea typeface="MiSans" pitchFamily="34" charset="-122"/>
                <a:cs typeface="MiSans" pitchFamily="34" charset="-120"/>
              </a:rPr>
              <a:t>SDLC - 7 Giai đoạn</a:t>
            </a:r>
            <a:endParaRPr lang="en-US" sz="1600" dirty="0"/>
          </a:p>
        </p:txBody>
      </p:sp>
      <p:sp>
        <p:nvSpPr>
          <p:cNvPr id="22" name="Shape 20"/>
          <p:cNvSpPr/>
          <p:nvPr/>
        </p:nvSpPr>
        <p:spPr>
          <a:xfrm>
            <a:off x="8390599" y="1659434"/>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23" name="Text 21"/>
          <p:cNvSpPr/>
          <p:nvPr/>
        </p:nvSpPr>
        <p:spPr>
          <a:xfrm>
            <a:off x="8366787" y="1659434"/>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1</a:t>
            </a:r>
            <a:endParaRPr lang="en-US" sz="1600" dirty="0"/>
          </a:p>
        </p:txBody>
      </p:sp>
      <p:sp>
        <p:nvSpPr>
          <p:cNvPr id="24" name="Text 22"/>
          <p:cNvSpPr/>
          <p:nvPr/>
        </p:nvSpPr>
        <p:spPr>
          <a:xfrm>
            <a:off x="8676267" y="1675281"/>
            <a:ext cx="92868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Xác định yêu cầu</a:t>
            </a:r>
            <a:endParaRPr lang="en-US" sz="1600" dirty="0"/>
          </a:p>
        </p:txBody>
      </p:sp>
      <p:sp>
        <p:nvSpPr>
          <p:cNvPr id="25" name="Shape 23"/>
          <p:cNvSpPr/>
          <p:nvPr/>
        </p:nvSpPr>
        <p:spPr>
          <a:xfrm>
            <a:off x="8390599" y="1945102"/>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26" name="Text 24"/>
          <p:cNvSpPr/>
          <p:nvPr/>
        </p:nvSpPr>
        <p:spPr>
          <a:xfrm>
            <a:off x="8366787" y="1945102"/>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2</a:t>
            </a:r>
            <a:endParaRPr lang="en-US" sz="1600" dirty="0"/>
          </a:p>
        </p:txBody>
      </p:sp>
      <p:sp>
        <p:nvSpPr>
          <p:cNvPr id="27" name="Text 25"/>
          <p:cNvSpPr/>
          <p:nvPr/>
        </p:nvSpPr>
        <p:spPr>
          <a:xfrm>
            <a:off x="8676267" y="1960948"/>
            <a:ext cx="1349375"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Lên kế hoạch &amp; Phân tích</a:t>
            </a:r>
            <a:endParaRPr lang="en-US" sz="1600" dirty="0"/>
          </a:p>
        </p:txBody>
      </p:sp>
      <p:sp>
        <p:nvSpPr>
          <p:cNvPr id="28" name="Shape 26"/>
          <p:cNvSpPr/>
          <p:nvPr/>
        </p:nvSpPr>
        <p:spPr>
          <a:xfrm>
            <a:off x="8390599" y="2230769"/>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29" name="Text 27"/>
          <p:cNvSpPr/>
          <p:nvPr/>
        </p:nvSpPr>
        <p:spPr>
          <a:xfrm>
            <a:off x="8366787" y="2230769"/>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3</a:t>
            </a:r>
            <a:endParaRPr lang="en-US" sz="1600" dirty="0"/>
          </a:p>
        </p:txBody>
      </p:sp>
      <p:sp>
        <p:nvSpPr>
          <p:cNvPr id="30" name="Text 28"/>
          <p:cNvSpPr/>
          <p:nvPr/>
        </p:nvSpPr>
        <p:spPr>
          <a:xfrm>
            <a:off x="8676267" y="2246617"/>
            <a:ext cx="936625"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Thiết kế kiến trúc</a:t>
            </a:r>
            <a:endParaRPr lang="en-US" sz="1600" dirty="0"/>
          </a:p>
        </p:txBody>
      </p:sp>
      <p:sp>
        <p:nvSpPr>
          <p:cNvPr id="31" name="Shape 29"/>
          <p:cNvSpPr/>
          <p:nvPr/>
        </p:nvSpPr>
        <p:spPr>
          <a:xfrm>
            <a:off x="8390599" y="2516436"/>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32" name="Text 30"/>
          <p:cNvSpPr/>
          <p:nvPr/>
        </p:nvSpPr>
        <p:spPr>
          <a:xfrm>
            <a:off x="8366787" y="2516436"/>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4</a:t>
            </a:r>
            <a:endParaRPr lang="en-US" sz="1600" dirty="0"/>
          </a:p>
        </p:txBody>
      </p:sp>
      <p:sp>
        <p:nvSpPr>
          <p:cNvPr id="33" name="Text 31"/>
          <p:cNvSpPr/>
          <p:nvPr/>
        </p:nvSpPr>
        <p:spPr>
          <a:xfrm>
            <a:off x="8676267" y="2532283"/>
            <a:ext cx="1095375"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Triển khai mã nguồn</a:t>
            </a:r>
            <a:endParaRPr lang="en-US" sz="1600" dirty="0"/>
          </a:p>
        </p:txBody>
      </p:sp>
      <p:sp>
        <p:nvSpPr>
          <p:cNvPr id="34" name="Shape 32"/>
          <p:cNvSpPr/>
          <p:nvPr/>
        </p:nvSpPr>
        <p:spPr>
          <a:xfrm>
            <a:off x="8390599" y="2802104"/>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35" name="Text 33"/>
          <p:cNvSpPr/>
          <p:nvPr/>
        </p:nvSpPr>
        <p:spPr>
          <a:xfrm>
            <a:off x="8366787" y="2802104"/>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5</a:t>
            </a:r>
            <a:endParaRPr lang="en-US" sz="1600" dirty="0"/>
          </a:p>
        </p:txBody>
      </p:sp>
      <p:sp>
        <p:nvSpPr>
          <p:cNvPr id="36" name="Text 34"/>
          <p:cNvSpPr/>
          <p:nvPr/>
        </p:nvSpPr>
        <p:spPr>
          <a:xfrm>
            <a:off x="8676267" y="2817950"/>
            <a:ext cx="1063625"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Kiểm tra chất lượng</a:t>
            </a:r>
            <a:endParaRPr lang="en-US" sz="1600" dirty="0"/>
          </a:p>
        </p:txBody>
      </p:sp>
      <p:sp>
        <p:nvSpPr>
          <p:cNvPr id="37" name="Shape 35"/>
          <p:cNvSpPr/>
          <p:nvPr/>
        </p:nvSpPr>
        <p:spPr>
          <a:xfrm>
            <a:off x="8390599" y="3087771"/>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38" name="Text 36"/>
          <p:cNvSpPr/>
          <p:nvPr/>
        </p:nvSpPr>
        <p:spPr>
          <a:xfrm>
            <a:off x="8366787" y="3087771"/>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6</a:t>
            </a:r>
            <a:endParaRPr lang="en-US" sz="1600" dirty="0"/>
          </a:p>
        </p:txBody>
      </p:sp>
      <p:sp>
        <p:nvSpPr>
          <p:cNvPr id="39" name="Text 37"/>
          <p:cNvSpPr/>
          <p:nvPr/>
        </p:nvSpPr>
        <p:spPr>
          <a:xfrm>
            <a:off x="8676267" y="3103619"/>
            <a:ext cx="571500"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Phát hành</a:t>
            </a:r>
            <a:endParaRPr lang="en-US" sz="1600" dirty="0"/>
          </a:p>
        </p:txBody>
      </p:sp>
      <p:sp>
        <p:nvSpPr>
          <p:cNvPr id="40" name="Shape 38"/>
          <p:cNvSpPr/>
          <p:nvPr/>
        </p:nvSpPr>
        <p:spPr>
          <a:xfrm>
            <a:off x="8390599" y="3373438"/>
            <a:ext cx="190500" cy="190500"/>
          </a:xfrm>
          <a:custGeom>
            <a:avLst/>
            <a:gdLst/>
            <a:ahLst/>
            <a:cxnLst/>
            <a:rect l="l" t="t" r="r" b="b"/>
            <a:pathLst>
              <a:path w="190500" h="190500">
                <a:moveTo>
                  <a:pt x="95250" y="0"/>
                </a:moveTo>
                <a:lnTo>
                  <a:pt x="95250" y="0"/>
                </a:lnTo>
                <a:cubicBezTo>
                  <a:pt x="147820" y="0"/>
                  <a:pt x="190500" y="42680"/>
                  <a:pt x="190500" y="95250"/>
                </a:cubicBezTo>
                <a:lnTo>
                  <a:pt x="190500" y="95250"/>
                </a:lnTo>
                <a:cubicBezTo>
                  <a:pt x="190500" y="147820"/>
                  <a:pt x="147820" y="190500"/>
                  <a:pt x="95250" y="190500"/>
                </a:cubicBezTo>
                <a:lnTo>
                  <a:pt x="95250" y="190500"/>
                </a:lnTo>
                <a:cubicBezTo>
                  <a:pt x="42680" y="190500"/>
                  <a:pt x="0" y="147820"/>
                  <a:pt x="0" y="95250"/>
                </a:cubicBezTo>
                <a:lnTo>
                  <a:pt x="0" y="95250"/>
                </a:lnTo>
                <a:cubicBezTo>
                  <a:pt x="0" y="42680"/>
                  <a:pt x="42680" y="0"/>
                  <a:pt x="95250" y="0"/>
                </a:cubicBezTo>
                <a:close/>
              </a:path>
            </a:pathLst>
          </a:custGeom>
          <a:solidFill>
            <a:srgbClr val="1D1D1D"/>
          </a:solidFill>
          <a:ln/>
        </p:spPr>
      </p:sp>
      <p:sp>
        <p:nvSpPr>
          <p:cNvPr id="41" name="Text 39"/>
          <p:cNvSpPr/>
          <p:nvPr/>
        </p:nvSpPr>
        <p:spPr>
          <a:xfrm>
            <a:off x="8366787" y="3373438"/>
            <a:ext cx="238125" cy="190500"/>
          </a:xfrm>
          <a:prstGeom prst="rect">
            <a:avLst/>
          </a:prstGeom>
          <a:noFill/>
          <a:ln/>
        </p:spPr>
        <p:txBody>
          <a:bodyPr wrap="square" lIns="0" tIns="0" rIns="0" bIns="0" rtlCol="0" anchor="ctr"/>
          <a:lstStyle/>
          <a:p>
            <a:pPr algn="ctr">
              <a:lnSpc>
                <a:spcPct val="110000"/>
              </a:lnSpc>
            </a:pPr>
            <a:r>
              <a:rPr lang="en-US" sz="750" dirty="0">
                <a:solidFill>
                  <a:srgbClr val="FFFFFF"/>
                </a:solidFill>
                <a:latin typeface="MiSans" pitchFamily="34" charset="0"/>
                <a:ea typeface="MiSans" pitchFamily="34" charset="-122"/>
                <a:cs typeface="MiSans" pitchFamily="34" charset="-120"/>
              </a:rPr>
              <a:t>7</a:t>
            </a:r>
            <a:endParaRPr lang="en-US" sz="1600" dirty="0"/>
          </a:p>
        </p:txBody>
      </p:sp>
      <p:sp>
        <p:nvSpPr>
          <p:cNvPr id="42" name="Text 40"/>
          <p:cNvSpPr/>
          <p:nvPr/>
        </p:nvSpPr>
        <p:spPr>
          <a:xfrm>
            <a:off x="8676267" y="3389285"/>
            <a:ext cx="388938"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Bảo trì</a:t>
            </a:r>
            <a:endParaRPr lang="en-US" sz="1600" dirty="0"/>
          </a:p>
        </p:txBody>
      </p:sp>
      <p:sp>
        <p:nvSpPr>
          <p:cNvPr id="43" name="Shape 41"/>
          <p:cNvSpPr/>
          <p:nvPr/>
        </p:nvSpPr>
        <p:spPr>
          <a:xfrm>
            <a:off x="8390599" y="3695210"/>
            <a:ext cx="3286125" cy="8819"/>
          </a:xfrm>
          <a:custGeom>
            <a:avLst/>
            <a:gdLst/>
            <a:ahLst/>
            <a:cxnLst/>
            <a:rect l="l" t="t" r="r" b="b"/>
            <a:pathLst>
              <a:path w="3286125" h="8819">
                <a:moveTo>
                  <a:pt x="0" y="0"/>
                </a:moveTo>
                <a:lnTo>
                  <a:pt x="3286125" y="0"/>
                </a:lnTo>
                <a:lnTo>
                  <a:pt x="3286125" y="8819"/>
                </a:lnTo>
                <a:lnTo>
                  <a:pt x="0" y="8819"/>
                </a:lnTo>
                <a:lnTo>
                  <a:pt x="0" y="0"/>
                </a:lnTo>
                <a:close/>
              </a:path>
            </a:pathLst>
          </a:custGeom>
          <a:solidFill>
            <a:srgbClr val="E5E5E5"/>
          </a:solidFill>
          <a:ln/>
        </p:spPr>
      </p:sp>
      <p:sp>
        <p:nvSpPr>
          <p:cNvPr id="44" name="Text 42"/>
          <p:cNvSpPr/>
          <p:nvPr/>
        </p:nvSpPr>
        <p:spPr>
          <a:xfrm>
            <a:off x="8390599" y="3690800"/>
            <a:ext cx="3333750" cy="254000"/>
          </a:xfrm>
          <a:prstGeom prst="rect">
            <a:avLst/>
          </a:prstGeom>
          <a:noFill/>
          <a:ln/>
        </p:spPr>
        <p:txBody>
          <a:bodyPr wrap="square" lIns="0" tIns="12700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Gõ code chỉ chiếm &lt;35% tổng nỗ lực</a:t>
            </a:r>
            <a:endParaRPr lang="en-US" sz="1600" dirty="0"/>
          </a:p>
        </p:txBody>
      </p:sp>
      <p:sp>
        <p:nvSpPr>
          <p:cNvPr id="45" name="Shape 43"/>
          <p:cNvSpPr/>
          <p:nvPr/>
        </p:nvSpPr>
        <p:spPr>
          <a:xfrm>
            <a:off x="8195745" y="4347573"/>
            <a:ext cx="3675944" cy="1977319"/>
          </a:xfrm>
          <a:custGeom>
            <a:avLst/>
            <a:gdLst/>
            <a:ahLst/>
            <a:cxnLst/>
            <a:rect l="l" t="t" r="r" b="b"/>
            <a:pathLst>
              <a:path w="3675944" h="1977319">
                <a:moveTo>
                  <a:pt x="0" y="0"/>
                </a:moveTo>
                <a:lnTo>
                  <a:pt x="3675944" y="0"/>
                </a:lnTo>
                <a:lnTo>
                  <a:pt x="3675944" y="1977319"/>
                </a:lnTo>
                <a:lnTo>
                  <a:pt x="0" y="1977319"/>
                </a:lnTo>
                <a:lnTo>
                  <a:pt x="0" y="0"/>
                </a:lnTo>
                <a:close/>
              </a:path>
            </a:pathLst>
          </a:custGeom>
          <a:solidFill>
            <a:srgbClr val="000000">
              <a:alpha val="0"/>
            </a:srgbClr>
          </a:solidFill>
          <a:ln w="14111">
            <a:solidFill>
              <a:srgbClr val="E5E5E5"/>
            </a:solidFill>
            <a:prstDash val="solid"/>
          </a:ln>
        </p:spPr>
      </p:sp>
      <p:sp>
        <p:nvSpPr>
          <p:cNvPr id="46" name="Text 44"/>
          <p:cNvSpPr/>
          <p:nvPr/>
        </p:nvSpPr>
        <p:spPr>
          <a:xfrm>
            <a:off x="8390599" y="4542428"/>
            <a:ext cx="3357563" cy="222250"/>
          </a:xfrm>
          <a:prstGeom prst="rect">
            <a:avLst/>
          </a:prstGeom>
          <a:noFill/>
          <a:ln/>
        </p:spPr>
        <p:txBody>
          <a:bodyPr wrap="square" lIns="0" tIns="0" rIns="0" bIns="0" rtlCol="0" anchor="ctr"/>
          <a:lstStyle/>
          <a:p>
            <a:pPr>
              <a:lnSpc>
                <a:spcPct val="130000"/>
              </a:lnSpc>
            </a:pPr>
            <a:r>
              <a:rPr lang="en-US" sz="1125" dirty="0">
                <a:solidFill>
                  <a:srgbClr val="1D1D1D"/>
                </a:solidFill>
                <a:latin typeface="MiSans" pitchFamily="34" charset="0"/>
                <a:ea typeface="MiSans" pitchFamily="34" charset="-122"/>
                <a:cs typeface="MiSans" pitchFamily="34" charset="-120"/>
              </a:rPr>
              <a:t>Bộ công cụ GenAI</a:t>
            </a:r>
            <a:endParaRPr lang="en-US" sz="1600" dirty="0"/>
          </a:p>
        </p:txBody>
      </p:sp>
      <p:sp>
        <p:nvSpPr>
          <p:cNvPr id="47" name="Text 45"/>
          <p:cNvSpPr/>
          <p:nvPr/>
        </p:nvSpPr>
        <p:spPr>
          <a:xfrm>
            <a:off x="8390599" y="4891622"/>
            <a:ext cx="3349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ChatGPT</a:t>
            </a:r>
            <a:endParaRPr lang="en-US" sz="1600" dirty="0"/>
          </a:p>
        </p:txBody>
      </p:sp>
      <p:sp>
        <p:nvSpPr>
          <p:cNvPr id="48" name="Text 46"/>
          <p:cNvSpPr/>
          <p:nvPr/>
        </p:nvSpPr>
        <p:spPr>
          <a:xfrm>
            <a:off x="8390599" y="5082205"/>
            <a:ext cx="3341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Trợ lý linh hoạt qua chat</a:t>
            </a:r>
            <a:endParaRPr lang="en-US" sz="1600" dirty="0"/>
          </a:p>
        </p:txBody>
      </p:sp>
      <p:sp>
        <p:nvSpPr>
          <p:cNvPr id="49" name="Text 47"/>
          <p:cNvSpPr/>
          <p:nvPr/>
        </p:nvSpPr>
        <p:spPr>
          <a:xfrm>
            <a:off x="8390599" y="5336041"/>
            <a:ext cx="3349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OpenAI API</a:t>
            </a:r>
            <a:endParaRPr lang="en-US" sz="1600" dirty="0"/>
          </a:p>
        </p:txBody>
      </p:sp>
      <p:sp>
        <p:nvSpPr>
          <p:cNvPr id="50" name="Text 48"/>
          <p:cNvSpPr/>
          <p:nvPr/>
        </p:nvSpPr>
        <p:spPr>
          <a:xfrm>
            <a:off x="8390599" y="5526622"/>
            <a:ext cx="3341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Tích hợp AI vào ứng dụng</a:t>
            </a:r>
            <a:endParaRPr lang="en-US" sz="1600" dirty="0"/>
          </a:p>
        </p:txBody>
      </p:sp>
      <p:sp>
        <p:nvSpPr>
          <p:cNvPr id="51" name="Text 49"/>
          <p:cNvSpPr/>
          <p:nvPr/>
        </p:nvSpPr>
        <p:spPr>
          <a:xfrm>
            <a:off x="8390599" y="5780457"/>
            <a:ext cx="3349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GitHub Copilot</a:t>
            </a:r>
            <a:endParaRPr lang="en-US" sz="1600" dirty="0"/>
          </a:p>
        </p:txBody>
      </p:sp>
      <p:sp>
        <p:nvSpPr>
          <p:cNvPr id="52" name="Text 50"/>
          <p:cNvSpPr/>
          <p:nvPr/>
        </p:nvSpPr>
        <p:spPr>
          <a:xfrm>
            <a:off x="8390599" y="5971041"/>
            <a:ext cx="3341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Ngưới cộng sự ảo trong IDE</a:t>
            </a:r>
            <a:endParaRPr lang="en-US" sz="1600" dirty="0"/>
          </a:p>
        </p:txBody>
      </p:sp>
      <p:sp>
        <p:nvSpPr>
          <p:cNvPr id="53" name="Shape 51"/>
          <p:cNvSpPr/>
          <p:nvPr/>
        </p:nvSpPr>
        <p:spPr>
          <a:xfrm>
            <a:off x="8195745" y="6523771"/>
            <a:ext cx="3675944" cy="897819"/>
          </a:xfrm>
          <a:custGeom>
            <a:avLst/>
            <a:gdLst/>
            <a:ahLst/>
            <a:cxnLst/>
            <a:rect l="l" t="t" r="r" b="b"/>
            <a:pathLst>
              <a:path w="3675944" h="897819">
                <a:moveTo>
                  <a:pt x="0" y="0"/>
                </a:moveTo>
                <a:lnTo>
                  <a:pt x="3675944" y="0"/>
                </a:lnTo>
                <a:lnTo>
                  <a:pt x="3675944" y="897819"/>
                </a:lnTo>
                <a:lnTo>
                  <a:pt x="0" y="897819"/>
                </a:lnTo>
                <a:lnTo>
                  <a:pt x="0" y="0"/>
                </a:lnTo>
                <a:close/>
              </a:path>
            </a:pathLst>
          </a:custGeom>
          <a:solidFill>
            <a:srgbClr val="000000">
              <a:alpha val="0"/>
            </a:srgbClr>
          </a:solidFill>
          <a:ln w="14111">
            <a:solidFill>
              <a:srgbClr val="E5E5E5"/>
            </a:solidFill>
            <a:prstDash val="solid"/>
          </a:ln>
        </p:spPr>
      </p:sp>
      <p:sp>
        <p:nvSpPr>
          <p:cNvPr id="54" name="Text 52"/>
          <p:cNvSpPr/>
          <p:nvPr/>
        </p:nvSpPr>
        <p:spPr>
          <a:xfrm>
            <a:off x="8327072" y="6655098"/>
            <a:ext cx="3468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Lợi ích</a:t>
            </a:r>
            <a:endParaRPr lang="en-US" sz="1600" dirty="0"/>
          </a:p>
        </p:txBody>
      </p:sp>
      <p:sp>
        <p:nvSpPr>
          <p:cNvPr id="55" name="Text 53"/>
          <p:cNvSpPr/>
          <p:nvPr/>
        </p:nvSpPr>
        <p:spPr>
          <a:xfrm>
            <a:off x="8327072" y="6877100"/>
            <a:ext cx="3508375" cy="254000"/>
          </a:xfrm>
          <a:prstGeom prst="rect">
            <a:avLst/>
          </a:prstGeom>
          <a:noFill/>
          <a:ln/>
        </p:spPr>
        <p:txBody>
          <a:bodyPr wrap="square" lIns="0" tIns="0" rIns="0" bIns="0" rtlCol="0" anchor="ctr"/>
          <a:lstStyle/>
          <a:p>
            <a:pPr>
              <a:lnSpc>
                <a:spcPct val="110000"/>
              </a:lnSpc>
            </a:pPr>
            <a:r>
              <a:rPr lang="en-US" sz="1500" dirty="0">
                <a:solidFill>
                  <a:srgbClr val="1D1D1D"/>
                </a:solidFill>
                <a:latin typeface="MiSans" pitchFamily="34" charset="0"/>
                <a:ea typeface="MiSans" pitchFamily="34" charset="-122"/>
                <a:cs typeface="MiSans" pitchFamily="34" charset="-120"/>
              </a:rPr>
              <a:t>↑ 10-50%</a:t>
            </a:r>
            <a:endParaRPr lang="en-US" sz="1600" dirty="0"/>
          </a:p>
        </p:txBody>
      </p:sp>
      <p:sp>
        <p:nvSpPr>
          <p:cNvPr id="56" name="Text 54"/>
          <p:cNvSpPr/>
          <p:nvPr/>
        </p:nvSpPr>
        <p:spPr>
          <a:xfrm>
            <a:off x="8327072" y="7130935"/>
            <a:ext cx="3468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Tăng năng suất làm việc</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p:bgPr>
    </p:bg>
    <p:spTree>
      <p:nvGrpSpPr>
        <p:cNvPr id="1" name=""/>
        <p:cNvGrpSpPr/>
        <p:nvPr/>
      </p:nvGrpSpPr>
      <p:grpSpPr>
        <a:xfrm>
          <a:off x="0" y="0"/>
          <a:ext cx="0" cy="0"/>
          <a:chOff x="0" y="0"/>
          <a:chExt cx="0" cy="0"/>
        </a:xfrm>
      </p:grpSpPr>
      <p:pic>
        <p:nvPicPr>
          <p:cNvPr id="2" name="Image 0" descr="https://kimi-web-img.moonshot.cn/img/www.intellinez.com/6d563574d50c8bb6c9e6559adbf000318fb73c90.webp">    </p:cNvPr>
          <p:cNvPicPr>
            <a:picLocks noChangeAspect="1"/>
          </p:cNvPicPr>
          <p:nvPr/>
        </p:nvPicPr>
        <p:blipFill>
          <a:blip r:embed="rId1">
            <a:alphaModFix amt="5000"/>
          </a:blip>
          <a:srcRect l="0" r="0" t="7813" b="7813"/>
          <a:stretch/>
        </p:blipFill>
        <p:spPr>
          <a:xfrm>
            <a:off x="0" y="0"/>
            <a:ext cx="12192000" cy="6858000"/>
          </a:xfrm>
          <a:prstGeom prst="roundRect">
            <a:avLst>
              <a:gd name="adj" fmla="val 0"/>
            </a:avLst>
          </a:prstGeom>
        </p:spPr>
      </p:pic>
      <p:sp>
        <p:nvSpPr>
          <p:cNvPr id="3" name="Text 0"/>
          <p:cNvSpPr/>
          <p:nvPr/>
        </p:nvSpPr>
        <p:spPr>
          <a:xfrm>
            <a:off x="381000" y="1805120"/>
            <a:ext cx="1571625" cy="914400"/>
          </a:xfrm>
          <a:prstGeom prst="rect">
            <a:avLst/>
          </a:prstGeom>
          <a:noFill/>
          <a:ln/>
        </p:spPr>
        <p:txBody>
          <a:bodyPr wrap="square" lIns="0" tIns="0" rIns="0" bIns="0" rtlCol="0" anchor="ctr"/>
          <a:lstStyle/>
          <a:p>
            <a:pPr>
              <a:lnSpc>
                <a:spcPct val="80000"/>
              </a:lnSpc>
            </a:pPr>
            <a:r>
              <a:rPr lang="en-US" sz="7200" dirty="0">
                <a:solidFill>
                  <a:srgbClr val="E5E5E5"/>
                </a:solidFill>
                <a:latin typeface="Liter" pitchFamily="34" charset="0"/>
                <a:ea typeface="Liter" pitchFamily="34" charset="-122"/>
                <a:cs typeface="Liter" pitchFamily="34" charset="-120"/>
              </a:rPr>
              <a:t>02</a:t>
            </a:r>
            <a:endParaRPr lang="en-US" sz="1600" dirty="0"/>
          </a:p>
        </p:txBody>
      </p:sp>
      <p:sp>
        <p:nvSpPr>
          <p:cNvPr id="4" name="Shape 1"/>
          <p:cNvSpPr/>
          <p:nvPr/>
        </p:nvSpPr>
        <p:spPr>
          <a:xfrm>
            <a:off x="1724091" y="1805120"/>
            <a:ext cx="9525" cy="914400"/>
          </a:xfrm>
          <a:custGeom>
            <a:avLst/>
            <a:gdLst/>
            <a:ahLst/>
            <a:cxnLst/>
            <a:rect l="l" t="t" r="r" b="b"/>
            <a:pathLst>
              <a:path w="9525" h="914400">
                <a:moveTo>
                  <a:pt x="0" y="0"/>
                </a:moveTo>
                <a:lnTo>
                  <a:pt x="9525" y="0"/>
                </a:lnTo>
                <a:lnTo>
                  <a:pt x="9525" y="914400"/>
                </a:lnTo>
                <a:lnTo>
                  <a:pt x="0" y="914400"/>
                </a:lnTo>
                <a:lnTo>
                  <a:pt x="0" y="0"/>
                </a:lnTo>
                <a:close/>
              </a:path>
            </a:pathLst>
          </a:custGeom>
          <a:solidFill>
            <a:srgbClr val="E5E5E5"/>
          </a:solidFill>
          <a:ln/>
        </p:spPr>
      </p:sp>
      <p:sp>
        <p:nvSpPr>
          <p:cNvPr id="5" name="Text 2"/>
          <p:cNvSpPr/>
          <p:nvPr/>
        </p:nvSpPr>
        <p:spPr>
          <a:xfrm>
            <a:off x="381000" y="3024353"/>
            <a:ext cx="5553075" cy="1428750"/>
          </a:xfrm>
          <a:prstGeom prst="rect">
            <a:avLst/>
          </a:prstGeom>
          <a:noFill/>
          <a:ln/>
        </p:spPr>
        <p:txBody>
          <a:bodyPr wrap="square" lIns="0" tIns="0" rIns="0" bIns="0" rtlCol="0" anchor="ctr"/>
          <a:lstStyle/>
          <a:p>
            <a:pPr>
              <a:lnSpc>
                <a:spcPct val="100000"/>
              </a:lnSpc>
            </a:pPr>
            <a:r>
              <a:rPr lang="en-US" sz="4500" dirty="0">
                <a:solidFill>
                  <a:srgbClr val="1D1D1D"/>
                </a:solidFill>
                <a:latin typeface="Liter" pitchFamily="34" charset="0"/>
                <a:ea typeface="Liter" pitchFamily="34" charset="-122"/>
                <a:cs typeface="Liter" pitchFamily="34" charset="-120"/>
              </a:rPr>
              <a:t>Làm việc với</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API OpenAI</a:t>
            </a:r>
            <a:endParaRPr lang="en-US" sz="1600" dirty="0"/>
          </a:p>
        </p:txBody>
      </p:sp>
      <p:sp>
        <p:nvSpPr>
          <p:cNvPr id="6" name="Text 3"/>
          <p:cNvSpPr/>
          <p:nvPr/>
        </p:nvSpPr>
        <p:spPr>
          <a:xfrm>
            <a:off x="381000" y="4681637"/>
            <a:ext cx="5381625"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MiSans" pitchFamily="34" charset="0"/>
                <a:ea typeface="MiSans" pitchFamily="34" charset="-122"/>
                <a:cs typeface="MiSans" pitchFamily="34" charset="-120"/>
              </a:rPr>
              <a:t>Tích hợp trí tuệ nhân tạo vào ứng dụng phần mềm</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spc="88" kern="0" dirty="0">
                <a:solidFill>
                  <a:srgbClr val="86868B"/>
                </a:solidFill>
                <a:latin typeface="MiSans" pitchFamily="34" charset="0"/>
                <a:ea typeface="MiSans" pitchFamily="34" charset="-122"/>
                <a:cs typeface="MiSans" pitchFamily="34" charset="-120"/>
              </a:rPr>
              <a:t>Chapter 02</a:t>
            </a:r>
            <a:endParaRPr lang="en-US" sz="1600" dirty="0"/>
          </a:p>
        </p:txBody>
      </p:sp>
      <p:sp>
        <p:nvSpPr>
          <p:cNvPr id="3" name="Text 1"/>
          <p:cNvSpPr/>
          <p:nvPr/>
        </p:nvSpPr>
        <p:spPr>
          <a:xfrm>
            <a:off x="317500" y="539502"/>
            <a:ext cx="11699875" cy="317500"/>
          </a:xfrm>
          <a:prstGeom prst="rect">
            <a:avLst/>
          </a:prstGeom>
          <a:noFill/>
          <a:ln/>
        </p:spPr>
        <p:txBody>
          <a:bodyPr wrap="square" lIns="0" tIns="0" rIns="0" bIns="0" rtlCol="0" anchor="ctr"/>
          <a:lstStyle/>
          <a:p>
            <a:pPr>
              <a:lnSpc>
                <a:spcPct val="90000"/>
              </a:lnSpc>
            </a:pPr>
            <a:r>
              <a:rPr lang="en-US" sz="2250" dirty="0">
                <a:solidFill>
                  <a:srgbClr val="1D1D1D"/>
                </a:solidFill>
                <a:latin typeface="Liter" pitchFamily="34" charset="0"/>
                <a:ea typeface="Liter" pitchFamily="34" charset="-122"/>
                <a:cs typeface="Liter" pitchFamily="34" charset="-120"/>
              </a:rPr>
              <a:t>OpenAI API: Kiến trúc và Ứng dụng</a:t>
            </a:r>
            <a:endParaRPr lang="en-US" sz="1600" dirty="0"/>
          </a:p>
        </p:txBody>
      </p:sp>
      <p:sp>
        <p:nvSpPr>
          <p:cNvPr id="4" name="Shape 2"/>
          <p:cNvSpPr/>
          <p:nvPr/>
        </p:nvSpPr>
        <p:spPr>
          <a:xfrm>
            <a:off x="317500" y="1337607"/>
            <a:ext cx="6858000" cy="8819"/>
          </a:xfrm>
          <a:custGeom>
            <a:avLst/>
            <a:gdLst/>
            <a:ahLst/>
            <a:cxnLst/>
            <a:rect l="l" t="t" r="r" b="b"/>
            <a:pathLst>
              <a:path w="6858000" h="8819">
                <a:moveTo>
                  <a:pt x="0" y="0"/>
                </a:moveTo>
                <a:lnTo>
                  <a:pt x="6858000" y="0"/>
                </a:lnTo>
                <a:lnTo>
                  <a:pt x="6858000" y="8819"/>
                </a:lnTo>
                <a:lnTo>
                  <a:pt x="0" y="8819"/>
                </a:lnTo>
                <a:lnTo>
                  <a:pt x="0" y="0"/>
                </a:lnTo>
                <a:close/>
              </a:path>
            </a:pathLst>
          </a:custGeom>
          <a:solidFill>
            <a:srgbClr val="E5E5E5"/>
          </a:solidFill>
          <a:ln/>
        </p:spPr>
      </p:sp>
      <p:sp>
        <p:nvSpPr>
          <p:cNvPr id="5" name="Text 3"/>
          <p:cNvSpPr/>
          <p:nvPr/>
        </p:nvSpPr>
        <p:spPr>
          <a:xfrm>
            <a:off x="317500" y="1047448"/>
            <a:ext cx="6937375" cy="285750"/>
          </a:xfrm>
          <a:prstGeom prst="rect">
            <a:avLst/>
          </a:prstGeom>
          <a:noFill/>
          <a:ln/>
        </p:spPr>
        <p:txBody>
          <a:bodyPr wrap="square" lIns="0" tIns="0" rIns="0" bIns="63500" rtlCol="0" anchor="ctr"/>
          <a:lstStyle/>
          <a:p>
            <a:pPr>
              <a:lnSpc>
                <a:spcPct val="120000"/>
              </a:lnSpc>
            </a:pPr>
            <a:r>
              <a:rPr lang="en-US" sz="1250" dirty="0">
                <a:solidFill>
                  <a:srgbClr val="1D1D1D"/>
                </a:solidFill>
                <a:latin typeface="MiSans" pitchFamily="34" charset="0"/>
                <a:ea typeface="MiSans" pitchFamily="34" charset="-122"/>
                <a:cs typeface="MiSans" pitchFamily="34" charset="-120"/>
              </a:rPr>
              <a:t>Giới thiệu OpenAI API</a:t>
            </a:r>
            <a:endParaRPr lang="en-US" sz="1600" dirty="0"/>
          </a:p>
        </p:txBody>
      </p:sp>
      <p:sp>
        <p:nvSpPr>
          <p:cNvPr id="6" name="Text 4"/>
          <p:cNvSpPr/>
          <p:nvPr/>
        </p:nvSpPr>
        <p:spPr>
          <a:xfrm>
            <a:off x="317500" y="1437017"/>
            <a:ext cx="6921500" cy="412750"/>
          </a:xfrm>
          <a:prstGeom prst="rect">
            <a:avLst/>
          </a:prstGeom>
          <a:noFill/>
          <a:ln/>
        </p:spPr>
        <p:txBody>
          <a:bodyPr wrap="square" lIns="0" tIns="0" rIns="0" bIns="0" rtlCol="0" anchor="ctr"/>
          <a:lstStyle/>
          <a:p>
            <a:pPr>
              <a:lnSpc>
                <a:spcPct val="140000"/>
              </a:lnSpc>
            </a:pPr>
            <a:r>
              <a:rPr lang="en-US" sz="1000" dirty="0">
                <a:solidFill>
                  <a:srgbClr val="1D1D1D"/>
                </a:solidFill>
                <a:latin typeface="MiSans" pitchFamily="34" charset="0"/>
                <a:ea typeface="MiSans" pitchFamily="34" charset="-122"/>
                <a:cs typeface="MiSans" pitchFamily="34" charset="-120"/>
              </a:rPr>
              <a:t>OpenAI đứng đầu trong lĩnh vực GenAI với các mô hình ngôn ngữ lớn (LLMs). API cho phép nhà phát triển nhúng trực tiếp AI vào ứng dụng qua giao diện RESTful HTTP hoặc thư viện Python.</a:t>
            </a:r>
            <a:endParaRPr lang="en-US" sz="1600" dirty="0"/>
          </a:p>
        </p:txBody>
      </p:sp>
      <p:sp>
        <p:nvSpPr>
          <p:cNvPr id="7" name="Shape 5"/>
          <p:cNvSpPr/>
          <p:nvPr/>
        </p:nvSpPr>
        <p:spPr>
          <a:xfrm>
            <a:off x="321910" y="1981208"/>
            <a:ext cx="3358444" cy="643819"/>
          </a:xfrm>
          <a:custGeom>
            <a:avLst/>
            <a:gdLst/>
            <a:ahLst/>
            <a:cxnLst/>
            <a:rect l="l" t="t" r="r" b="b"/>
            <a:pathLst>
              <a:path w="3358444" h="643819">
                <a:moveTo>
                  <a:pt x="0" y="0"/>
                </a:moveTo>
                <a:lnTo>
                  <a:pt x="3358444" y="0"/>
                </a:lnTo>
                <a:lnTo>
                  <a:pt x="3358444" y="643819"/>
                </a:lnTo>
                <a:lnTo>
                  <a:pt x="0" y="643819"/>
                </a:lnTo>
                <a:lnTo>
                  <a:pt x="0" y="0"/>
                </a:lnTo>
                <a:close/>
              </a:path>
            </a:pathLst>
          </a:custGeom>
          <a:solidFill>
            <a:srgbClr val="000000">
              <a:alpha val="0"/>
            </a:srgbClr>
          </a:solidFill>
          <a:ln w="14111">
            <a:solidFill>
              <a:srgbClr val="E5E5E5"/>
            </a:solidFill>
            <a:prstDash val="solid"/>
          </a:ln>
        </p:spPr>
      </p:sp>
      <p:sp>
        <p:nvSpPr>
          <p:cNvPr id="8" name="Text 6"/>
          <p:cNvSpPr/>
          <p:nvPr/>
        </p:nvSpPr>
        <p:spPr>
          <a:xfrm>
            <a:off x="453237" y="2112534"/>
            <a:ext cx="31591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Chat</a:t>
            </a:r>
            <a:endParaRPr lang="en-US" sz="1600" dirty="0"/>
          </a:p>
        </p:txBody>
      </p:sp>
      <p:sp>
        <p:nvSpPr>
          <p:cNvPr id="9" name="Text 7"/>
          <p:cNvSpPr/>
          <p:nvPr/>
        </p:nvSpPr>
        <p:spPr>
          <a:xfrm>
            <a:off x="453237" y="2334811"/>
            <a:ext cx="3151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Hệ thống tương tác thông minh</a:t>
            </a:r>
            <a:endParaRPr lang="en-US" sz="1600" dirty="0"/>
          </a:p>
        </p:txBody>
      </p:sp>
      <p:sp>
        <p:nvSpPr>
          <p:cNvPr id="10" name="Shape 8"/>
          <p:cNvSpPr/>
          <p:nvPr/>
        </p:nvSpPr>
        <p:spPr>
          <a:xfrm>
            <a:off x="3814272" y="1981208"/>
            <a:ext cx="3358444" cy="643819"/>
          </a:xfrm>
          <a:custGeom>
            <a:avLst/>
            <a:gdLst/>
            <a:ahLst/>
            <a:cxnLst/>
            <a:rect l="l" t="t" r="r" b="b"/>
            <a:pathLst>
              <a:path w="3358444" h="643819">
                <a:moveTo>
                  <a:pt x="0" y="0"/>
                </a:moveTo>
                <a:lnTo>
                  <a:pt x="3358444" y="0"/>
                </a:lnTo>
                <a:lnTo>
                  <a:pt x="3358444" y="643819"/>
                </a:lnTo>
                <a:lnTo>
                  <a:pt x="0" y="643819"/>
                </a:lnTo>
                <a:lnTo>
                  <a:pt x="0" y="0"/>
                </a:lnTo>
                <a:close/>
              </a:path>
            </a:pathLst>
          </a:custGeom>
          <a:solidFill>
            <a:srgbClr val="000000">
              <a:alpha val="0"/>
            </a:srgbClr>
          </a:solidFill>
          <a:ln w="14111">
            <a:solidFill>
              <a:srgbClr val="E5E5E5"/>
            </a:solidFill>
            <a:prstDash val="solid"/>
          </a:ln>
        </p:spPr>
      </p:sp>
      <p:sp>
        <p:nvSpPr>
          <p:cNvPr id="11" name="Text 9"/>
          <p:cNvSpPr/>
          <p:nvPr/>
        </p:nvSpPr>
        <p:spPr>
          <a:xfrm>
            <a:off x="3945599" y="2112534"/>
            <a:ext cx="31591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Graphics</a:t>
            </a:r>
            <a:endParaRPr lang="en-US" sz="1600" dirty="0"/>
          </a:p>
        </p:txBody>
      </p:sp>
      <p:sp>
        <p:nvSpPr>
          <p:cNvPr id="12" name="Text 10"/>
          <p:cNvSpPr/>
          <p:nvPr/>
        </p:nvSpPr>
        <p:spPr>
          <a:xfrm>
            <a:off x="3945599" y="2334811"/>
            <a:ext cx="3151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Tạo hình ảnh từ văn bản</a:t>
            </a:r>
            <a:endParaRPr lang="en-US" sz="1600" dirty="0"/>
          </a:p>
        </p:txBody>
      </p:sp>
      <p:sp>
        <p:nvSpPr>
          <p:cNvPr id="13" name="Shape 11"/>
          <p:cNvSpPr/>
          <p:nvPr/>
        </p:nvSpPr>
        <p:spPr>
          <a:xfrm>
            <a:off x="321910" y="2760486"/>
            <a:ext cx="3358444" cy="643819"/>
          </a:xfrm>
          <a:custGeom>
            <a:avLst/>
            <a:gdLst/>
            <a:ahLst/>
            <a:cxnLst/>
            <a:rect l="l" t="t" r="r" b="b"/>
            <a:pathLst>
              <a:path w="3358444" h="643819">
                <a:moveTo>
                  <a:pt x="0" y="0"/>
                </a:moveTo>
                <a:lnTo>
                  <a:pt x="3358444" y="0"/>
                </a:lnTo>
                <a:lnTo>
                  <a:pt x="3358444" y="643819"/>
                </a:lnTo>
                <a:lnTo>
                  <a:pt x="0" y="643819"/>
                </a:lnTo>
                <a:lnTo>
                  <a:pt x="0" y="0"/>
                </a:lnTo>
                <a:close/>
              </a:path>
            </a:pathLst>
          </a:custGeom>
          <a:solidFill>
            <a:srgbClr val="000000">
              <a:alpha val="0"/>
            </a:srgbClr>
          </a:solidFill>
          <a:ln w="14111">
            <a:solidFill>
              <a:srgbClr val="E5E5E5"/>
            </a:solidFill>
            <a:prstDash val="solid"/>
          </a:ln>
        </p:spPr>
      </p:sp>
      <p:sp>
        <p:nvSpPr>
          <p:cNvPr id="14" name="Text 12"/>
          <p:cNvSpPr/>
          <p:nvPr/>
        </p:nvSpPr>
        <p:spPr>
          <a:xfrm>
            <a:off x="453237" y="2891812"/>
            <a:ext cx="31591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Audio</a:t>
            </a:r>
            <a:endParaRPr lang="en-US" sz="1600" dirty="0"/>
          </a:p>
        </p:txBody>
      </p:sp>
      <p:sp>
        <p:nvSpPr>
          <p:cNvPr id="15" name="Text 13"/>
          <p:cNvSpPr/>
          <p:nvPr/>
        </p:nvSpPr>
        <p:spPr>
          <a:xfrm>
            <a:off x="453237" y="3114093"/>
            <a:ext cx="3151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Chuyển văn bản thành giọng nói</a:t>
            </a:r>
            <a:endParaRPr lang="en-US" sz="1600" dirty="0"/>
          </a:p>
        </p:txBody>
      </p:sp>
      <p:sp>
        <p:nvSpPr>
          <p:cNvPr id="16" name="Shape 14"/>
          <p:cNvSpPr/>
          <p:nvPr/>
        </p:nvSpPr>
        <p:spPr>
          <a:xfrm>
            <a:off x="3814272" y="2760486"/>
            <a:ext cx="3358444" cy="643819"/>
          </a:xfrm>
          <a:custGeom>
            <a:avLst/>
            <a:gdLst/>
            <a:ahLst/>
            <a:cxnLst/>
            <a:rect l="l" t="t" r="r" b="b"/>
            <a:pathLst>
              <a:path w="3358444" h="643819">
                <a:moveTo>
                  <a:pt x="0" y="0"/>
                </a:moveTo>
                <a:lnTo>
                  <a:pt x="3358444" y="0"/>
                </a:lnTo>
                <a:lnTo>
                  <a:pt x="3358444" y="643819"/>
                </a:lnTo>
                <a:lnTo>
                  <a:pt x="0" y="643819"/>
                </a:lnTo>
                <a:lnTo>
                  <a:pt x="0" y="0"/>
                </a:lnTo>
                <a:close/>
              </a:path>
            </a:pathLst>
          </a:custGeom>
          <a:solidFill>
            <a:srgbClr val="000000">
              <a:alpha val="0"/>
            </a:srgbClr>
          </a:solidFill>
          <a:ln w="14111">
            <a:solidFill>
              <a:srgbClr val="E5E5E5"/>
            </a:solidFill>
            <a:prstDash val="solid"/>
          </a:ln>
        </p:spPr>
      </p:sp>
      <p:sp>
        <p:nvSpPr>
          <p:cNvPr id="17" name="Text 15"/>
          <p:cNvSpPr/>
          <p:nvPr/>
        </p:nvSpPr>
        <p:spPr>
          <a:xfrm>
            <a:off x="3945599" y="2891812"/>
            <a:ext cx="31591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Software Dev</a:t>
            </a:r>
            <a:endParaRPr lang="en-US" sz="1600" dirty="0"/>
          </a:p>
        </p:txBody>
      </p:sp>
      <p:sp>
        <p:nvSpPr>
          <p:cNvPr id="18" name="Text 16"/>
          <p:cNvSpPr/>
          <p:nvPr/>
        </p:nvSpPr>
        <p:spPr>
          <a:xfrm>
            <a:off x="3945599" y="3114093"/>
            <a:ext cx="3151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Sinh mã và phân tích code</a:t>
            </a:r>
            <a:endParaRPr lang="en-US" sz="1600" dirty="0"/>
          </a:p>
        </p:txBody>
      </p:sp>
      <p:sp>
        <p:nvSpPr>
          <p:cNvPr id="19" name="Shape 17"/>
          <p:cNvSpPr/>
          <p:nvPr/>
        </p:nvSpPr>
        <p:spPr>
          <a:xfrm>
            <a:off x="317500" y="3857349"/>
            <a:ext cx="6858000" cy="8819"/>
          </a:xfrm>
          <a:custGeom>
            <a:avLst/>
            <a:gdLst/>
            <a:ahLst/>
            <a:cxnLst/>
            <a:rect l="l" t="t" r="r" b="b"/>
            <a:pathLst>
              <a:path w="6858000" h="8819">
                <a:moveTo>
                  <a:pt x="0" y="0"/>
                </a:moveTo>
                <a:lnTo>
                  <a:pt x="6858000" y="0"/>
                </a:lnTo>
                <a:lnTo>
                  <a:pt x="6858000" y="8819"/>
                </a:lnTo>
                <a:lnTo>
                  <a:pt x="0" y="8819"/>
                </a:lnTo>
                <a:lnTo>
                  <a:pt x="0" y="0"/>
                </a:lnTo>
                <a:close/>
              </a:path>
            </a:pathLst>
          </a:custGeom>
          <a:solidFill>
            <a:srgbClr val="E5E5E5"/>
          </a:solidFill>
          <a:ln/>
        </p:spPr>
      </p:sp>
      <p:sp>
        <p:nvSpPr>
          <p:cNvPr id="20" name="Text 18"/>
          <p:cNvSpPr/>
          <p:nvPr/>
        </p:nvSpPr>
        <p:spPr>
          <a:xfrm>
            <a:off x="317500" y="3567189"/>
            <a:ext cx="6937375" cy="285750"/>
          </a:xfrm>
          <a:prstGeom prst="rect">
            <a:avLst/>
          </a:prstGeom>
          <a:noFill/>
          <a:ln/>
        </p:spPr>
        <p:txBody>
          <a:bodyPr wrap="square" lIns="0" tIns="0" rIns="0" bIns="63500" rtlCol="0" anchor="ctr"/>
          <a:lstStyle/>
          <a:p>
            <a:pPr>
              <a:lnSpc>
                <a:spcPct val="120000"/>
              </a:lnSpc>
            </a:pPr>
            <a:r>
              <a:rPr lang="en-US" sz="1250" dirty="0">
                <a:solidFill>
                  <a:srgbClr val="1D1D1D"/>
                </a:solidFill>
                <a:latin typeface="MiSans" pitchFamily="34" charset="0"/>
                <a:ea typeface="MiSans" pitchFamily="34" charset="-122"/>
                <a:cs typeface="MiSans" pitchFamily="34" charset="-120"/>
              </a:rPr>
              <a:t>Hệ thống vai trò trong Chat API</a:t>
            </a:r>
            <a:endParaRPr lang="en-US" sz="1600" dirty="0"/>
          </a:p>
        </p:txBody>
      </p:sp>
      <p:sp>
        <p:nvSpPr>
          <p:cNvPr id="21" name="Text 19"/>
          <p:cNvSpPr/>
          <p:nvPr/>
        </p:nvSpPr>
        <p:spPr>
          <a:xfrm>
            <a:off x="317500" y="3956762"/>
            <a:ext cx="6985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User Role</a:t>
            </a:r>
            <a:endParaRPr lang="en-US" sz="1600" dirty="0"/>
          </a:p>
        </p:txBody>
      </p:sp>
      <p:sp>
        <p:nvSpPr>
          <p:cNvPr id="22" name="Text 20"/>
          <p:cNvSpPr/>
          <p:nvPr/>
        </p:nvSpPr>
        <p:spPr>
          <a:xfrm>
            <a:off x="1079417" y="3956762"/>
            <a:ext cx="615156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Đại diện cho yêu cầu từ ngưới dùng cuối</a:t>
            </a:r>
            <a:endParaRPr lang="en-US" sz="1600" dirty="0"/>
          </a:p>
        </p:txBody>
      </p:sp>
      <p:sp>
        <p:nvSpPr>
          <p:cNvPr id="23" name="Text 21"/>
          <p:cNvSpPr/>
          <p:nvPr/>
        </p:nvSpPr>
        <p:spPr>
          <a:xfrm>
            <a:off x="317500" y="4242567"/>
            <a:ext cx="6985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Assistant</a:t>
            </a:r>
            <a:endParaRPr lang="en-US" sz="1600" dirty="0"/>
          </a:p>
        </p:txBody>
      </p:sp>
      <p:sp>
        <p:nvSpPr>
          <p:cNvPr id="24" name="Text 22"/>
          <p:cNvSpPr/>
          <p:nvPr/>
        </p:nvSpPr>
        <p:spPr>
          <a:xfrm>
            <a:off x="1079417" y="4242567"/>
            <a:ext cx="615156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Câu trả lới được AI phản hồi dựa trên yêu cầu</a:t>
            </a:r>
            <a:endParaRPr lang="en-US" sz="1600" dirty="0"/>
          </a:p>
        </p:txBody>
      </p:sp>
      <p:sp>
        <p:nvSpPr>
          <p:cNvPr id="25" name="Text 23"/>
          <p:cNvSpPr/>
          <p:nvPr/>
        </p:nvSpPr>
        <p:spPr>
          <a:xfrm>
            <a:off x="317500" y="4528371"/>
            <a:ext cx="698500"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System</a:t>
            </a:r>
            <a:endParaRPr lang="en-US" sz="1600" dirty="0"/>
          </a:p>
        </p:txBody>
      </p:sp>
      <p:sp>
        <p:nvSpPr>
          <p:cNvPr id="26" name="Text 24"/>
          <p:cNvSpPr/>
          <p:nvPr/>
        </p:nvSpPr>
        <p:spPr>
          <a:xfrm>
            <a:off x="1079417" y="4528371"/>
            <a:ext cx="615156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Thiết lập "tính cách" và quy tắc ứng xử cho AI</a:t>
            </a:r>
            <a:endParaRPr lang="en-US" sz="1600" dirty="0"/>
          </a:p>
        </p:txBody>
      </p:sp>
      <p:sp>
        <p:nvSpPr>
          <p:cNvPr id="27" name="Shape 25"/>
          <p:cNvSpPr/>
          <p:nvPr/>
        </p:nvSpPr>
        <p:spPr>
          <a:xfrm>
            <a:off x="7370300" y="1051857"/>
            <a:ext cx="4501444" cy="2485319"/>
          </a:xfrm>
          <a:custGeom>
            <a:avLst/>
            <a:gdLst/>
            <a:ahLst/>
            <a:cxnLst/>
            <a:rect l="l" t="t" r="r" b="b"/>
            <a:pathLst>
              <a:path w="4501444" h="2485319">
                <a:moveTo>
                  <a:pt x="0" y="0"/>
                </a:moveTo>
                <a:lnTo>
                  <a:pt x="4501444" y="0"/>
                </a:lnTo>
                <a:lnTo>
                  <a:pt x="4501444" y="2485319"/>
                </a:lnTo>
                <a:lnTo>
                  <a:pt x="0" y="2485319"/>
                </a:lnTo>
                <a:lnTo>
                  <a:pt x="0" y="0"/>
                </a:lnTo>
                <a:close/>
              </a:path>
            </a:pathLst>
          </a:custGeom>
          <a:solidFill>
            <a:srgbClr val="000000">
              <a:alpha val="0"/>
            </a:srgbClr>
          </a:solidFill>
          <a:ln w="14111">
            <a:solidFill>
              <a:srgbClr val="E5E5E5"/>
            </a:solidFill>
            <a:prstDash val="solid"/>
          </a:ln>
        </p:spPr>
      </p:sp>
      <p:sp>
        <p:nvSpPr>
          <p:cNvPr id="28" name="Text 26"/>
          <p:cNvSpPr/>
          <p:nvPr/>
        </p:nvSpPr>
        <p:spPr>
          <a:xfrm>
            <a:off x="7533460" y="1215015"/>
            <a:ext cx="4246563" cy="222250"/>
          </a:xfrm>
          <a:prstGeom prst="rect">
            <a:avLst/>
          </a:prstGeom>
          <a:noFill/>
          <a:ln/>
        </p:spPr>
        <p:txBody>
          <a:bodyPr wrap="square" lIns="0" tIns="0" rIns="0" bIns="0" rtlCol="0" anchor="ctr"/>
          <a:lstStyle/>
          <a:p>
            <a:pPr>
              <a:lnSpc>
                <a:spcPct val="130000"/>
              </a:lnSpc>
            </a:pPr>
            <a:r>
              <a:rPr lang="en-US" sz="1125" dirty="0">
                <a:solidFill>
                  <a:srgbClr val="1D1D1D"/>
                </a:solidFill>
                <a:latin typeface="MiSans" pitchFamily="34" charset="0"/>
                <a:ea typeface="MiSans" pitchFamily="34" charset="-122"/>
                <a:cs typeface="MiSans" pitchFamily="34" charset="-120"/>
              </a:rPr>
              <a:t>Thành phần API Request</a:t>
            </a:r>
            <a:endParaRPr lang="en-US" sz="1600" dirty="0"/>
          </a:p>
        </p:txBody>
      </p:sp>
      <p:sp>
        <p:nvSpPr>
          <p:cNvPr id="29" name="Text 27"/>
          <p:cNvSpPr/>
          <p:nvPr/>
        </p:nvSpPr>
        <p:spPr>
          <a:xfrm>
            <a:off x="7533460" y="1564211"/>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Endpoint</a:t>
            </a:r>
            <a:endParaRPr lang="en-US" sz="1600" dirty="0"/>
          </a:p>
        </p:txBody>
      </p:sp>
      <p:sp>
        <p:nvSpPr>
          <p:cNvPr id="30" name="Text 28"/>
          <p:cNvSpPr/>
          <p:nvPr/>
        </p:nvSpPr>
        <p:spPr>
          <a:xfrm>
            <a:off x="7533460" y="1786488"/>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Địa chỉ URL của dịch vụ API</a:t>
            </a:r>
            <a:endParaRPr lang="en-US" sz="1600" dirty="0"/>
          </a:p>
        </p:txBody>
      </p:sp>
      <p:sp>
        <p:nvSpPr>
          <p:cNvPr id="31" name="Text 29"/>
          <p:cNvSpPr/>
          <p:nvPr/>
        </p:nvSpPr>
        <p:spPr>
          <a:xfrm>
            <a:off x="7533460" y="2040325"/>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HTTP Method</a:t>
            </a:r>
            <a:endParaRPr lang="en-US" sz="1600" dirty="0"/>
          </a:p>
        </p:txBody>
      </p:sp>
      <p:sp>
        <p:nvSpPr>
          <p:cNvPr id="32" name="Text 30"/>
          <p:cNvSpPr/>
          <p:nvPr/>
        </p:nvSpPr>
        <p:spPr>
          <a:xfrm>
            <a:off x="7533460" y="2262602"/>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Phương thức yêu cầu (thường là POST)</a:t>
            </a:r>
            <a:endParaRPr lang="en-US" sz="1600" dirty="0"/>
          </a:p>
        </p:txBody>
      </p:sp>
      <p:sp>
        <p:nvSpPr>
          <p:cNvPr id="33" name="Text 31"/>
          <p:cNvSpPr/>
          <p:nvPr/>
        </p:nvSpPr>
        <p:spPr>
          <a:xfrm>
            <a:off x="7533460" y="2516436"/>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Headers</a:t>
            </a:r>
            <a:endParaRPr lang="en-US" sz="1600" dirty="0"/>
          </a:p>
        </p:txBody>
      </p:sp>
      <p:sp>
        <p:nvSpPr>
          <p:cNvPr id="34" name="Text 32"/>
          <p:cNvSpPr/>
          <p:nvPr/>
        </p:nvSpPr>
        <p:spPr>
          <a:xfrm>
            <a:off x="7533460" y="2738713"/>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Thông tin xác thực và metadata</a:t>
            </a:r>
            <a:endParaRPr lang="en-US" sz="1600" dirty="0"/>
          </a:p>
        </p:txBody>
      </p:sp>
      <p:sp>
        <p:nvSpPr>
          <p:cNvPr id="35" name="Text 33"/>
          <p:cNvSpPr/>
          <p:nvPr/>
        </p:nvSpPr>
        <p:spPr>
          <a:xfrm>
            <a:off x="7533460" y="2992550"/>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Body</a:t>
            </a:r>
            <a:endParaRPr lang="en-US" sz="1600" dirty="0"/>
          </a:p>
        </p:txBody>
      </p:sp>
      <p:sp>
        <p:nvSpPr>
          <p:cNvPr id="36" name="Text 34"/>
          <p:cNvSpPr/>
          <p:nvPr/>
        </p:nvSpPr>
        <p:spPr>
          <a:xfrm>
            <a:off x="7533460" y="3214827"/>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Dữ liệu yêu cầu gửi đến API</a:t>
            </a:r>
            <a:endParaRPr lang="en-US" sz="1600" dirty="0"/>
          </a:p>
        </p:txBody>
      </p:sp>
      <p:sp>
        <p:nvSpPr>
          <p:cNvPr id="37" name="Shape 35"/>
          <p:cNvSpPr/>
          <p:nvPr/>
        </p:nvSpPr>
        <p:spPr>
          <a:xfrm>
            <a:off x="7370300" y="3704168"/>
            <a:ext cx="4501444" cy="2009069"/>
          </a:xfrm>
          <a:custGeom>
            <a:avLst/>
            <a:gdLst/>
            <a:ahLst/>
            <a:cxnLst/>
            <a:rect l="l" t="t" r="r" b="b"/>
            <a:pathLst>
              <a:path w="4501444" h="2009069">
                <a:moveTo>
                  <a:pt x="0" y="0"/>
                </a:moveTo>
                <a:lnTo>
                  <a:pt x="4501444" y="0"/>
                </a:lnTo>
                <a:lnTo>
                  <a:pt x="4501444" y="2009069"/>
                </a:lnTo>
                <a:lnTo>
                  <a:pt x="0" y="2009069"/>
                </a:lnTo>
                <a:lnTo>
                  <a:pt x="0" y="0"/>
                </a:lnTo>
                <a:close/>
              </a:path>
            </a:pathLst>
          </a:custGeom>
          <a:solidFill>
            <a:srgbClr val="000000">
              <a:alpha val="0"/>
            </a:srgbClr>
          </a:solidFill>
          <a:ln w="14111">
            <a:solidFill>
              <a:srgbClr val="E5E5E5"/>
            </a:solidFill>
            <a:prstDash val="solid"/>
          </a:ln>
        </p:spPr>
      </p:sp>
      <p:sp>
        <p:nvSpPr>
          <p:cNvPr id="38" name="Text 36"/>
          <p:cNvSpPr/>
          <p:nvPr/>
        </p:nvSpPr>
        <p:spPr>
          <a:xfrm>
            <a:off x="7533460" y="3867326"/>
            <a:ext cx="4246563" cy="222250"/>
          </a:xfrm>
          <a:prstGeom prst="rect">
            <a:avLst/>
          </a:prstGeom>
          <a:noFill/>
          <a:ln/>
        </p:spPr>
        <p:txBody>
          <a:bodyPr wrap="square" lIns="0" tIns="0" rIns="0" bIns="0" rtlCol="0" anchor="ctr"/>
          <a:lstStyle/>
          <a:p>
            <a:pPr>
              <a:lnSpc>
                <a:spcPct val="130000"/>
              </a:lnSpc>
            </a:pPr>
            <a:r>
              <a:rPr lang="en-US" sz="1125" dirty="0">
                <a:solidFill>
                  <a:srgbClr val="1D1D1D"/>
                </a:solidFill>
                <a:latin typeface="MiSans" pitchFamily="34" charset="0"/>
                <a:ea typeface="MiSans" pitchFamily="34" charset="-122"/>
                <a:cs typeface="MiSans" pitchFamily="34" charset="-120"/>
              </a:rPr>
              <a:t>Thông số quan trọng</a:t>
            </a:r>
            <a:endParaRPr lang="en-US" sz="1600" dirty="0"/>
          </a:p>
        </p:txBody>
      </p:sp>
      <p:sp>
        <p:nvSpPr>
          <p:cNvPr id="39" name="Text 37"/>
          <p:cNvSpPr/>
          <p:nvPr/>
        </p:nvSpPr>
        <p:spPr>
          <a:xfrm>
            <a:off x="7533460" y="4216522"/>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temperature</a:t>
            </a:r>
            <a:endParaRPr lang="en-US" sz="1600" dirty="0"/>
          </a:p>
        </p:txBody>
      </p:sp>
      <p:sp>
        <p:nvSpPr>
          <p:cNvPr id="40" name="Text 38"/>
          <p:cNvSpPr/>
          <p:nvPr/>
        </p:nvSpPr>
        <p:spPr>
          <a:xfrm>
            <a:off x="7533460" y="4438799"/>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Mức độ ngẫu nhiên (0-2)</a:t>
            </a:r>
            <a:endParaRPr lang="en-US" sz="1600" dirty="0"/>
          </a:p>
        </p:txBody>
      </p:sp>
      <p:sp>
        <p:nvSpPr>
          <p:cNvPr id="41" name="Text 39"/>
          <p:cNvSpPr/>
          <p:nvPr/>
        </p:nvSpPr>
        <p:spPr>
          <a:xfrm>
            <a:off x="7533460" y="4692632"/>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max_tokens</a:t>
            </a:r>
            <a:endParaRPr lang="en-US" sz="1600" dirty="0"/>
          </a:p>
        </p:txBody>
      </p:sp>
      <p:sp>
        <p:nvSpPr>
          <p:cNvPr id="42" name="Text 40"/>
          <p:cNvSpPr/>
          <p:nvPr/>
        </p:nvSpPr>
        <p:spPr>
          <a:xfrm>
            <a:off x="7533460" y="4914913"/>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Giới hạn số lượng token</a:t>
            </a:r>
            <a:endParaRPr lang="en-US" sz="1600" dirty="0"/>
          </a:p>
        </p:txBody>
      </p:sp>
      <p:sp>
        <p:nvSpPr>
          <p:cNvPr id="43" name="Text 41"/>
          <p:cNvSpPr/>
          <p:nvPr/>
        </p:nvSpPr>
        <p:spPr>
          <a:xfrm>
            <a:off x="7533460" y="5168747"/>
            <a:ext cx="4238625"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n</a:t>
            </a:r>
            <a:endParaRPr lang="en-US" sz="1600" dirty="0"/>
          </a:p>
        </p:txBody>
      </p:sp>
      <p:sp>
        <p:nvSpPr>
          <p:cNvPr id="44" name="Text 42"/>
          <p:cNvSpPr/>
          <p:nvPr/>
        </p:nvSpPr>
        <p:spPr>
          <a:xfrm>
            <a:off x="7533460" y="5391024"/>
            <a:ext cx="42306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Số phản hồi khác nhau</a:t>
            </a:r>
            <a:endParaRPr lang="en-US" sz="1600" dirty="0"/>
          </a:p>
        </p:txBody>
      </p:sp>
      <p:sp>
        <p:nvSpPr>
          <p:cNvPr id="45" name="Shape 43"/>
          <p:cNvSpPr/>
          <p:nvPr/>
        </p:nvSpPr>
        <p:spPr>
          <a:xfrm>
            <a:off x="7370300" y="5880365"/>
            <a:ext cx="4501444" cy="897819"/>
          </a:xfrm>
          <a:custGeom>
            <a:avLst/>
            <a:gdLst/>
            <a:ahLst/>
            <a:cxnLst/>
            <a:rect l="l" t="t" r="r" b="b"/>
            <a:pathLst>
              <a:path w="4501444" h="897819">
                <a:moveTo>
                  <a:pt x="0" y="0"/>
                </a:moveTo>
                <a:lnTo>
                  <a:pt x="4501444" y="0"/>
                </a:lnTo>
                <a:lnTo>
                  <a:pt x="4501444" y="897819"/>
                </a:lnTo>
                <a:lnTo>
                  <a:pt x="0" y="897819"/>
                </a:lnTo>
                <a:lnTo>
                  <a:pt x="0" y="0"/>
                </a:lnTo>
                <a:close/>
              </a:path>
            </a:pathLst>
          </a:custGeom>
          <a:solidFill>
            <a:srgbClr val="000000">
              <a:alpha val="0"/>
            </a:srgbClr>
          </a:solidFill>
          <a:ln w="14111">
            <a:solidFill>
              <a:srgbClr val="E5E5E5"/>
            </a:solidFill>
            <a:prstDash val="solid"/>
          </a:ln>
        </p:spPr>
      </p:sp>
      <p:sp>
        <p:nvSpPr>
          <p:cNvPr id="46" name="Text 44"/>
          <p:cNvSpPr/>
          <p:nvPr/>
        </p:nvSpPr>
        <p:spPr>
          <a:xfrm>
            <a:off x="7501627" y="6011691"/>
            <a:ext cx="4294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Chi phí</a:t>
            </a:r>
            <a:endParaRPr lang="en-US" sz="1600" dirty="0"/>
          </a:p>
        </p:txBody>
      </p:sp>
      <p:sp>
        <p:nvSpPr>
          <p:cNvPr id="47" name="Text 45"/>
          <p:cNvSpPr/>
          <p:nvPr/>
        </p:nvSpPr>
        <p:spPr>
          <a:xfrm>
            <a:off x="7501627" y="6233693"/>
            <a:ext cx="4302125" cy="412750"/>
          </a:xfrm>
          <a:prstGeom prst="rect">
            <a:avLst/>
          </a:prstGeom>
          <a:noFill/>
          <a:ln/>
        </p:spPr>
        <p:txBody>
          <a:bodyPr wrap="square" lIns="0" tIns="0" rIns="0" bIns="0" rtlCol="0" anchor="ctr"/>
          <a:lstStyle/>
          <a:p>
            <a:pPr>
              <a:lnSpc>
                <a:spcPct val="140000"/>
              </a:lnSpc>
            </a:pPr>
            <a:r>
              <a:rPr lang="en-US" sz="1000" dirty="0">
                <a:solidFill>
                  <a:srgbClr val="1D1D1D"/>
                </a:solidFill>
                <a:latin typeface="MiSans" pitchFamily="34" charset="0"/>
                <a:ea typeface="MiSans" pitchFamily="34" charset="-122"/>
                <a:cs typeface="MiSans" pitchFamily="34" charset="-120"/>
              </a:rPr>
              <a:t>Tính theo token (Input + Output). Sử dụng mô hình gpt-4o-mini để tối ưu chi phí.</a:t>
            </a:r>
            <a:endParaRPr lang="en-US" sz="1600" dirty="0"/>
          </a:p>
        </p:txBody>
      </p:sp>
      <p:sp>
        <p:nvSpPr>
          <p:cNvPr id="48" name="Shape 46"/>
          <p:cNvSpPr/>
          <p:nvPr/>
        </p:nvSpPr>
        <p:spPr>
          <a:xfrm>
            <a:off x="317500" y="6913620"/>
            <a:ext cx="11557000" cy="8819"/>
          </a:xfrm>
          <a:custGeom>
            <a:avLst/>
            <a:gdLst/>
            <a:ahLst/>
            <a:cxnLst/>
            <a:rect l="l" t="t" r="r" b="b"/>
            <a:pathLst>
              <a:path w="11557000" h="8819">
                <a:moveTo>
                  <a:pt x="0" y="0"/>
                </a:moveTo>
                <a:lnTo>
                  <a:pt x="11557000" y="0"/>
                </a:lnTo>
                <a:lnTo>
                  <a:pt x="11557000" y="8819"/>
                </a:lnTo>
                <a:lnTo>
                  <a:pt x="0" y="8819"/>
                </a:lnTo>
                <a:lnTo>
                  <a:pt x="0" y="0"/>
                </a:lnTo>
                <a:close/>
              </a:path>
            </a:pathLst>
          </a:custGeom>
          <a:solidFill>
            <a:srgbClr val="E5E5E5"/>
          </a:solidFill>
          <a:ln/>
        </p:spPr>
      </p:sp>
      <p:sp>
        <p:nvSpPr>
          <p:cNvPr id="49" name="Text 47"/>
          <p:cNvSpPr/>
          <p:nvPr/>
        </p:nvSpPr>
        <p:spPr>
          <a:xfrm>
            <a:off x="317500" y="7044946"/>
            <a:ext cx="11612563"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Các Lab thực hành:</a:t>
            </a:r>
            <a:pPr>
              <a:lnSpc>
                <a:spcPct val="120000"/>
              </a:lnSpc>
            </a:pPr>
            <a:r>
              <a:rPr lang="en-US" sz="875" dirty="0">
                <a:solidFill>
                  <a:srgbClr val="86868B"/>
                </a:solidFill>
                <a:latin typeface="MiSans" pitchFamily="34" charset="0"/>
                <a:ea typeface="MiSans" pitchFamily="34" charset="-122"/>
                <a:cs typeface="MiSans" pitchFamily="34" charset="-120"/>
              </a:rPr>
              <a:t> Lab 2.1 (First API Call) → Lab 2.2 (Parameters) → Lab 2.3 (Code Completion)</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p:bgPr>
    </p:bg>
    <p:spTree>
      <p:nvGrpSpPr>
        <p:cNvPr id="1" name=""/>
        <p:cNvGrpSpPr/>
        <p:nvPr/>
      </p:nvGrpSpPr>
      <p:grpSpPr>
        <a:xfrm>
          <a:off x="0" y="0"/>
          <a:ext cx="0" cy="0"/>
          <a:chOff x="0" y="0"/>
          <a:chExt cx="0" cy="0"/>
        </a:xfrm>
      </p:grpSpPr>
      <p:pic>
        <p:nvPicPr>
          <p:cNvPr id="2" name="Image 0" descr="https://kimi-web-img.moonshot.cn/img/github.blog/29e94c8464ec04069a170f86454dcef640259b30.png">    </p:cNvPr>
          <p:cNvPicPr>
            <a:picLocks noChangeAspect="1"/>
          </p:cNvPicPr>
          <p:nvPr/>
        </p:nvPicPr>
        <p:blipFill>
          <a:blip r:embed="rId1">
            <a:alphaModFix amt="5000"/>
          </a:blip>
          <a:srcRect l="3333" r="3333" t="0" b="0"/>
          <a:stretch/>
        </p:blipFill>
        <p:spPr>
          <a:xfrm>
            <a:off x="0" y="0"/>
            <a:ext cx="12192000" cy="6858000"/>
          </a:xfrm>
          <a:prstGeom prst="roundRect">
            <a:avLst>
              <a:gd name="adj" fmla="val 0"/>
            </a:avLst>
          </a:prstGeom>
        </p:spPr>
      </p:pic>
      <p:sp>
        <p:nvSpPr>
          <p:cNvPr id="3" name="Text 0"/>
          <p:cNvSpPr/>
          <p:nvPr/>
        </p:nvSpPr>
        <p:spPr>
          <a:xfrm>
            <a:off x="381000" y="1805118"/>
            <a:ext cx="1581150" cy="914400"/>
          </a:xfrm>
          <a:prstGeom prst="rect">
            <a:avLst/>
          </a:prstGeom>
          <a:noFill/>
          <a:ln/>
        </p:spPr>
        <p:txBody>
          <a:bodyPr wrap="square" lIns="0" tIns="0" rIns="0" bIns="0" rtlCol="0" anchor="ctr"/>
          <a:lstStyle/>
          <a:p>
            <a:pPr>
              <a:lnSpc>
                <a:spcPct val="80000"/>
              </a:lnSpc>
            </a:pPr>
            <a:r>
              <a:rPr lang="en-US" sz="7200" dirty="0">
                <a:solidFill>
                  <a:srgbClr val="E5E5E5"/>
                </a:solidFill>
                <a:latin typeface="Liter" pitchFamily="34" charset="0"/>
                <a:ea typeface="Liter" pitchFamily="34" charset="-122"/>
                <a:cs typeface="Liter" pitchFamily="34" charset="-120"/>
              </a:rPr>
              <a:t>03</a:t>
            </a:r>
            <a:endParaRPr lang="en-US" sz="1600" dirty="0"/>
          </a:p>
        </p:txBody>
      </p:sp>
      <p:sp>
        <p:nvSpPr>
          <p:cNvPr id="4" name="Shape 1"/>
          <p:cNvSpPr/>
          <p:nvPr/>
        </p:nvSpPr>
        <p:spPr>
          <a:xfrm>
            <a:off x="1732360" y="1805118"/>
            <a:ext cx="9525" cy="914400"/>
          </a:xfrm>
          <a:custGeom>
            <a:avLst/>
            <a:gdLst/>
            <a:ahLst/>
            <a:cxnLst/>
            <a:rect l="l" t="t" r="r" b="b"/>
            <a:pathLst>
              <a:path w="9525" h="914400">
                <a:moveTo>
                  <a:pt x="0" y="0"/>
                </a:moveTo>
                <a:lnTo>
                  <a:pt x="9525" y="0"/>
                </a:lnTo>
                <a:lnTo>
                  <a:pt x="9525" y="914400"/>
                </a:lnTo>
                <a:lnTo>
                  <a:pt x="0" y="914400"/>
                </a:lnTo>
                <a:lnTo>
                  <a:pt x="0" y="0"/>
                </a:lnTo>
                <a:close/>
              </a:path>
            </a:pathLst>
          </a:custGeom>
          <a:solidFill>
            <a:srgbClr val="E5E5E5"/>
          </a:solidFill>
          <a:ln/>
        </p:spPr>
      </p:sp>
      <p:sp>
        <p:nvSpPr>
          <p:cNvPr id="5" name="Text 2"/>
          <p:cNvSpPr/>
          <p:nvPr/>
        </p:nvSpPr>
        <p:spPr>
          <a:xfrm>
            <a:off x="381000" y="3024355"/>
            <a:ext cx="7267575" cy="1428750"/>
          </a:xfrm>
          <a:prstGeom prst="rect">
            <a:avLst/>
          </a:prstGeom>
          <a:noFill/>
          <a:ln/>
        </p:spPr>
        <p:txBody>
          <a:bodyPr wrap="square" lIns="0" tIns="0" rIns="0" bIns="0" rtlCol="0" anchor="ctr"/>
          <a:lstStyle/>
          <a:p>
            <a:pPr>
              <a:lnSpc>
                <a:spcPct val="100000"/>
              </a:lnSpc>
            </a:pPr>
            <a:r>
              <a:rPr lang="en-US" sz="4500" dirty="0">
                <a:solidFill>
                  <a:srgbClr val="1D1D1D"/>
                </a:solidFill>
                <a:latin typeface="Liter" pitchFamily="34" charset="0"/>
                <a:ea typeface="Liter" pitchFamily="34" charset="-122"/>
                <a:cs typeface="Liter" pitchFamily="34" charset="-120"/>
              </a:rPr>
              <a:t>Sử dụng</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GitHub Copilot</a:t>
            </a:r>
            <a:endParaRPr lang="en-US" sz="1600" dirty="0"/>
          </a:p>
        </p:txBody>
      </p:sp>
      <p:sp>
        <p:nvSpPr>
          <p:cNvPr id="6" name="Text 3"/>
          <p:cNvSpPr/>
          <p:nvPr/>
        </p:nvSpPr>
        <p:spPr>
          <a:xfrm>
            <a:off x="381000" y="4681635"/>
            <a:ext cx="7096125"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MiSans" pitchFamily="34" charset="0"/>
                <a:ea typeface="MiSans" pitchFamily="34" charset="-122"/>
                <a:cs typeface="MiSans" pitchFamily="34" charset="-120"/>
              </a:rPr>
              <a:t>AI Pair Programmer trong PyCharm, VS Code và Jupyter Notebook</a:t>
            </a:r>
            <a:endParaRPr lang="en-US" sz="16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44650" y="344650"/>
            <a:ext cx="11563013" cy="172325"/>
          </a:xfrm>
          <a:prstGeom prst="rect">
            <a:avLst/>
          </a:prstGeom>
          <a:noFill/>
          <a:ln/>
        </p:spPr>
        <p:txBody>
          <a:bodyPr wrap="square" lIns="0" tIns="0" rIns="0" bIns="0" rtlCol="0" anchor="ctr"/>
          <a:lstStyle/>
          <a:p>
            <a:pPr>
              <a:lnSpc>
                <a:spcPct val="120000"/>
              </a:lnSpc>
            </a:pPr>
            <a:r>
              <a:rPr lang="en-US" sz="950" spc="95" kern="0" dirty="0">
                <a:solidFill>
                  <a:srgbClr val="86868B"/>
                </a:solidFill>
                <a:latin typeface="MiSans" pitchFamily="34" charset="0"/>
                <a:ea typeface="MiSans" pitchFamily="34" charset="-122"/>
                <a:cs typeface="MiSans" pitchFamily="34" charset="-120"/>
              </a:rPr>
              <a:t>Chapter 03</a:t>
            </a:r>
            <a:endParaRPr lang="en-US" sz="1600" dirty="0"/>
          </a:p>
        </p:txBody>
      </p:sp>
      <p:sp>
        <p:nvSpPr>
          <p:cNvPr id="3" name="Text 1"/>
          <p:cNvSpPr/>
          <p:nvPr/>
        </p:nvSpPr>
        <p:spPr>
          <a:xfrm>
            <a:off x="344650" y="585636"/>
            <a:ext cx="11657792" cy="344650"/>
          </a:xfrm>
          <a:prstGeom prst="rect">
            <a:avLst/>
          </a:prstGeom>
          <a:noFill/>
          <a:ln/>
        </p:spPr>
        <p:txBody>
          <a:bodyPr wrap="square" lIns="0" tIns="0" rIns="0" bIns="0" rtlCol="0" anchor="ctr"/>
          <a:lstStyle/>
          <a:p>
            <a:pPr>
              <a:lnSpc>
                <a:spcPct val="90000"/>
              </a:lnSpc>
            </a:pPr>
            <a:r>
              <a:rPr lang="en-US" sz="2442" dirty="0">
                <a:solidFill>
                  <a:srgbClr val="1D1D1D"/>
                </a:solidFill>
                <a:latin typeface="Liter" pitchFamily="34" charset="0"/>
                <a:ea typeface="Liter" pitchFamily="34" charset="-122"/>
                <a:cs typeface="Liter" pitchFamily="34" charset="-120"/>
              </a:rPr>
              <a:t>GitHub Copilot: Tính năng và Thực hành</a:t>
            </a:r>
            <a:endParaRPr lang="en-US" sz="1600" dirty="0"/>
          </a:p>
        </p:txBody>
      </p:sp>
      <p:sp>
        <p:nvSpPr>
          <p:cNvPr id="4" name="Shape 2"/>
          <p:cNvSpPr/>
          <p:nvPr/>
        </p:nvSpPr>
        <p:spPr>
          <a:xfrm>
            <a:off x="344650" y="1451989"/>
            <a:ext cx="5617798" cy="9574"/>
          </a:xfrm>
          <a:custGeom>
            <a:avLst/>
            <a:gdLst/>
            <a:ahLst/>
            <a:cxnLst/>
            <a:rect l="l" t="t" r="r" b="b"/>
            <a:pathLst>
              <a:path w="5617798" h="9574">
                <a:moveTo>
                  <a:pt x="0" y="0"/>
                </a:moveTo>
                <a:lnTo>
                  <a:pt x="5617798" y="0"/>
                </a:lnTo>
                <a:lnTo>
                  <a:pt x="5617798" y="9574"/>
                </a:lnTo>
                <a:lnTo>
                  <a:pt x="0" y="9574"/>
                </a:lnTo>
                <a:lnTo>
                  <a:pt x="0" y="0"/>
                </a:lnTo>
                <a:close/>
              </a:path>
            </a:pathLst>
          </a:custGeom>
          <a:solidFill>
            <a:srgbClr val="E5E5E5"/>
          </a:solidFill>
          <a:ln/>
        </p:spPr>
      </p:sp>
      <p:sp>
        <p:nvSpPr>
          <p:cNvPr id="5" name="Text 3"/>
          <p:cNvSpPr/>
          <p:nvPr/>
        </p:nvSpPr>
        <p:spPr>
          <a:xfrm>
            <a:off x="344650" y="1137017"/>
            <a:ext cx="5703960" cy="310185"/>
          </a:xfrm>
          <a:prstGeom prst="rect">
            <a:avLst/>
          </a:prstGeom>
          <a:noFill/>
          <a:ln/>
        </p:spPr>
        <p:txBody>
          <a:bodyPr wrap="square" lIns="0" tIns="0" rIns="0" bIns="68930" rtlCol="0" anchor="ctr"/>
          <a:lstStyle/>
          <a:p>
            <a:pPr>
              <a:lnSpc>
                <a:spcPct val="120000"/>
              </a:lnSpc>
            </a:pPr>
            <a:r>
              <a:rPr lang="en-US" sz="1357" dirty="0">
                <a:solidFill>
                  <a:srgbClr val="1D1D1D"/>
                </a:solidFill>
                <a:latin typeface="MiSans" pitchFamily="34" charset="0"/>
                <a:ea typeface="MiSans" pitchFamily="34" charset="-122"/>
                <a:cs typeface="MiSans" pitchFamily="34" charset="-120"/>
              </a:rPr>
              <a:t>Giới thiệu GitHub Copilot</a:t>
            </a:r>
            <a:endParaRPr lang="en-US" sz="1600" dirty="0"/>
          </a:p>
        </p:txBody>
      </p:sp>
      <p:sp>
        <p:nvSpPr>
          <p:cNvPr id="6" name="Text 4"/>
          <p:cNvSpPr/>
          <p:nvPr/>
        </p:nvSpPr>
        <p:spPr>
          <a:xfrm>
            <a:off x="344650" y="1594306"/>
            <a:ext cx="5686728" cy="672068"/>
          </a:xfrm>
          <a:prstGeom prst="rect">
            <a:avLst/>
          </a:prstGeom>
          <a:noFill/>
          <a:ln/>
        </p:spPr>
        <p:txBody>
          <a:bodyPr wrap="square" lIns="0" tIns="0" rIns="0" bIns="0" rtlCol="0" anchor="ctr"/>
          <a:lstStyle/>
          <a:p>
            <a:pPr>
              <a:lnSpc>
                <a:spcPct val="140000"/>
              </a:lnSpc>
            </a:pPr>
            <a:r>
              <a:rPr lang="en-US" sz="1086" dirty="0">
                <a:solidFill>
                  <a:srgbClr val="1D1D1D"/>
                </a:solidFill>
                <a:latin typeface="MiSans" pitchFamily="34" charset="0"/>
                <a:ea typeface="MiSans" pitchFamily="34" charset="-122"/>
                <a:cs typeface="MiSans" pitchFamily="34" charset="-120"/>
              </a:rPr>
              <a:t>Copilot là công cụ hỗ trợ lập trình dựa trên AI, hoạt động như "AI pair programmer". Sử dụng LLMs được huấn luyện trên mã nguồn mở để đưa ra gợi ý code phù hợp với ngữ cảnh.</a:t>
            </a:r>
            <a:endParaRPr lang="en-US" sz="1600" dirty="0"/>
          </a:p>
        </p:txBody>
      </p:sp>
      <p:sp>
        <p:nvSpPr>
          <p:cNvPr id="7" name="Shape 5"/>
          <p:cNvSpPr/>
          <p:nvPr/>
        </p:nvSpPr>
        <p:spPr>
          <a:xfrm>
            <a:off x="349437" y="2409109"/>
            <a:ext cx="2749543" cy="561014"/>
          </a:xfrm>
          <a:custGeom>
            <a:avLst/>
            <a:gdLst/>
            <a:ahLst/>
            <a:cxnLst/>
            <a:rect l="l" t="t" r="r" b="b"/>
            <a:pathLst>
              <a:path w="2749543" h="561014">
                <a:moveTo>
                  <a:pt x="0" y="0"/>
                </a:moveTo>
                <a:lnTo>
                  <a:pt x="2749543" y="0"/>
                </a:lnTo>
                <a:lnTo>
                  <a:pt x="2749543" y="561014"/>
                </a:lnTo>
                <a:lnTo>
                  <a:pt x="0" y="561014"/>
                </a:lnTo>
                <a:lnTo>
                  <a:pt x="0" y="0"/>
                </a:lnTo>
                <a:close/>
              </a:path>
            </a:pathLst>
          </a:custGeom>
          <a:solidFill>
            <a:srgbClr val="000000">
              <a:alpha val="0"/>
            </a:srgbClr>
          </a:solidFill>
          <a:ln w="14111">
            <a:solidFill>
              <a:srgbClr val="E5E5E5"/>
            </a:solidFill>
            <a:prstDash val="solid"/>
          </a:ln>
        </p:spPr>
      </p:sp>
      <p:sp>
        <p:nvSpPr>
          <p:cNvPr id="8" name="Text 6"/>
          <p:cNvSpPr/>
          <p:nvPr/>
        </p:nvSpPr>
        <p:spPr>
          <a:xfrm>
            <a:off x="457589" y="2517263"/>
            <a:ext cx="259349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Code Completion</a:t>
            </a:r>
            <a:endParaRPr lang="en-US" sz="1600" dirty="0"/>
          </a:p>
        </p:txBody>
      </p:sp>
      <p:sp>
        <p:nvSpPr>
          <p:cNvPr id="9" name="Text 7"/>
          <p:cNvSpPr/>
          <p:nvPr/>
        </p:nvSpPr>
        <p:spPr>
          <a:xfrm>
            <a:off x="457589" y="2723843"/>
            <a:ext cx="2584876" cy="137860"/>
          </a:xfrm>
          <a:prstGeom prst="rect">
            <a:avLst/>
          </a:prstGeom>
          <a:noFill/>
          <a:ln/>
        </p:spPr>
        <p:txBody>
          <a:bodyPr wrap="square" lIns="0" tIns="0" rIns="0" bIns="0" rtlCol="0" anchor="ctr"/>
          <a:lstStyle/>
          <a:p>
            <a:pPr>
              <a:lnSpc>
                <a:spcPct val="110000"/>
              </a:lnSpc>
            </a:pPr>
            <a:r>
              <a:rPr lang="en-US" sz="814" dirty="0">
                <a:solidFill>
                  <a:srgbClr val="86868B"/>
                </a:solidFill>
                <a:latin typeface="MiSans" pitchFamily="34" charset="0"/>
                <a:ea typeface="MiSans" pitchFamily="34" charset="-122"/>
                <a:cs typeface="MiSans" pitchFamily="34" charset="-120"/>
              </a:rPr>
              <a:t>Hoàn thành code tự động</a:t>
            </a:r>
            <a:endParaRPr lang="en-US" sz="1600" dirty="0"/>
          </a:p>
        </p:txBody>
      </p:sp>
      <p:sp>
        <p:nvSpPr>
          <p:cNvPr id="10" name="Shape 8"/>
          <p:cNvSpPr/>
          <p:nvPr/>
        </p:nvSpPr>
        <p:spPr>
          <a:xfrm>
            <a:off x="3208059" y="2409109"/>
            <a:ext cx="2749543" cy="561014"/>
          </a:xfrm>
          <a:custGeom>
            <a:avLst/>
            <a:gdLst/>
            <a:ahLst/>
            <a:cxnLst/>
            <a:rect l="l" t="t" r="r" b="b"/>
            <a:pathLst>
              <a:path w="2749543" h="561014">
                <a:moveTo>
                  <a:pt x="0" y="0"/>
                </a:moveTo>
                <a:lnTo>
                  <a:pt x="2749543" y="0"/>
                </a:lnTo>
                <a:lnTo>
                  <a:pt x="2749543" y="561014"/>
                </a:lnTo>
                <a:lnTo>
                  <a:pt x="0" y="561014"/>
                </a:lnTo>
                <a:lnTo>
                  <a:pt x="0" y="0"/>
                </a:lnTo>
                <a:close/>
              </a:path>
            </a:pathLst>
          </a:custGeom>
          <a:solidFill>
            <a:srgbClr val="000000">
              <a:alpha val="0"/>
            </a:srgbClr>
          </a:solidFill>
          <a:ln w="14111">
            <a:solidFill>
              <a:srgbClr val="E5E5E5"/>
            </a:solidFill>
            <a:prstDash val="solid"/>
          </a:ln>
        </p:spPr>
      </p:sp>
      <p:sp>
        <p:nvSpPr>
          <p:cNvPr id="11" name="Text 9"/>
          <p:cNvSpPr/>
          <p:nvPr/>
        </p:nvSpPr>
        <p:spPr>
          <a:xfrm>
            <a:off x="3316211" y="2517263"/>
            <a:ext cx="259349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Code Analysis</a:t>
            </a:r>
            <a:endParaRPr lang="en-US" sz="1600" dirty="0"/>
          </a:p>
        </p:txBody>
      </p:sp>
      <p:sp>
        <p:nvSpPr>
          <p:cNvPr id="12" name="Text 10"/>
          <p:cNvSpPr/>
          <p:nvPr/>
        </p:nvSpPr>
        <p:spPr>
          <a:xfrm>
            <a:off x="3316211" y="2723843"/>
            <a:ext cx="2584876" cy="137860"/>
          </a:xfrm>
          <a:prstGeom prst="rect">
            <a:avLst/>
          </a:prstGeom>
          <a:noFill/>
          <a:ln/>
        </p:spPr>
        <p:txBody>
          <a:bodyPr wrap="square" lIns="0" tIns="0" rIns="0" bIns="0" rtlCol="0" anchor="ctr"/>
          <a:lstStyle/>
          <a:p>
            <a:pPr>
              <a:lnSpc>
                <a:spcPct val="110000"/>
              </a:lnSpc>
            </a:pPr>
            <a:r>
              <a:rPr lang="en-US" sz="814" dirty="0">
                <a:solidFill>
                  <a:srgbClr val="86868B"/>
                </a:solidFill>
                <a:latin typeface="MiSans" pitchFamily="34" charset="0"/>
                <a:ea typeface="MiSans" pitchFamily="34" charset="-122"/>
                <a:cs typeface="MiSans" pitchFamily="34" charset="-120"/>
              </a:rPr>
              <a:t>Phân tích và giải thích code</a:t>
            </a:r>
            <a:endParaRPr lang="en-US" sz="1600" dirty="0"/>
          </a:p>
        </p:txBody>
      </p:sp>
      <p:sp>
        <p:nvSpPr>
          <p:cNvPr id="13" name="Shape 11"/>
          <p:cNvSpPr/>
          <p:nvPr/>
        </p:nvSpPr>
        <p:spPr>
          <a:xfrm>
            <a:off x="349437" y="3082704"/>
            <a:ext cx="2749543" cy="561014"/>
          </a:xfrm>
          <a:custGeom>
            <a:avLst/>
            <a:gdLst/>
            <a:ahLst/>
            <a:cxnLst/>
            <a:rect l="l" t="t" r="r" b="b"/>
            <a:pathLst>
              <a:path w="2749543" h="561014">
                <a:moveTo>
                  <a:pt x="0" y="0"/>
                </a:moveTo>
                <a:lnTo>
                  <a:pt x="2749543" y="0"/>
                </a:lnTo>
                <a:lnTo>
                  <a:pt x="2749543" y="561014"/>
                </a:lnTo>
                <a:lnTo>
                  <a:pt x="0" y="561014"/>
                </a:lnTo>
                <a:lnTo>
                  <a:pt x="0" y="0"/>
                </a:lnTo>
                <a:close/>
              </a:path>
            </a:pathLst>
          </a:custGeom>
          <a:solidFill>
            <a:srgbClr val="000000">
              <a:alpha val="0"/>
            </a:srgbClr>
          </a:solidFill>
          <a:ln w="14111">
            <a:solidFill>
              <a:srgbClr val="E5E5E5"/>
            </a:solidFill>
            <a:prstDash val="solid"/>
          </a:ln>
        </p:spPr>
      </p:sp>
      <p:sp>
        <p:nvSpPr>
          <p:cNvPr id="14" name="Text 12"/>
          <p:cNvSpPr/>
          <p:nvPr/>
        </p:nvSpPr>
        <p:spPr>
          <a:xfrm>
            <a:off x="457589" y="3190858"/>
            <a:ext cx="259349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Chat</a:t>
            </a:r>
            <a:endParaRPr lang="en-US" sz="1600" dirty="0"/>
          </a:p>
        </p:txBody>
      </p:sp>
      <p:sp>
        <p:nvSpPr>
          <p:cNvPr id="15" name="Text 13"/>
          <p:cNvSpPr/>
          <p:nvPr/>
        </p:nvSpPr>
        <p:spPr>
          <a:xfrm>
            <a:off x="457589" y="3397438"/>
            <a:ext cx="2584876" cy="137860"/>
          </a:xfrm>
          <a:prstGeom prst="rect">
            <a:avLst/>
          </a:prstGeom>
          <a:noFill/>
          <a:ln/>
        </p:spPr>
        <p:txBody>
          <a:bodyPr wrap="square" lIns="0" tIns="0" rIns="0" bIns="0" rtlCol="0" anchor="ctr"/>
          <a:lstStyle/>
          <a:p>
            <a:pPr>
              <a:lnSpc>
                <a:spcPct val="110000"/>
              </a:lnSpc>
            </a:pPr>
            <a:r>
              <a:rPr lang="en-US" sz="814" dirty="0">
                <a:solidFill>
                  <a:srgbClr val="86868B"/>
                </a:solidFill>
                <a:latin typeface="MiSans" pitchFamily="34" charset="0"/>
                <a:ea typeface="MiSans" pitchFamily="34" charset="-122"/>
                <a:cs typeface="MiSans" pitchFamily="34" charset="-120"/>
              </a:rPr>
              <a:t>Hỏi đáp lập trình</a:t>
            </a:r>
            <a:endParaRPr lang="en-US" sz="1600" dirty="0"/>
          </a:p>
        </p:txBody>
      </p:sp>
      <p:sp>
        <p:nvSpPr>
          <p:cNvPr id="16" name="Shape 14"/>
          <p:cNvSpPr/>
          <p:nvPr/>
        </p:nvSpPr>
        <p:spPr>
          <a:xfrm>
            <a:off x="3208059" y="3082704"/>
            <a:ext cx="2749543" cy="561014"/>
          </a:xfrm>
          <a:custGeom>
            <a:avLst/>
            <a:gdLst/>
            <a:ahLst/>
            <a:cxnLst/>
            <a:rect l="l" t="t" r="r" b="b"/>
            <a:pathLst>
              <a:path w="2749543" h="561014">
                <a:moveTo>
                  <a:pt x="0" y="0"/>
                </a:moveTo>
                <a:lnTo>
                  <a:pt x="2749543" y="0"/>
                </a:lnTo>
                <a:lnTo>
                  <a:pt x="2749543" y="561014"/>
                </a:lnTo>
                <a:lnTo>
                  <a:pt x="0" y="561014"/>
                </a:lnTo>
                <a:lnTo>
                  <a:pt x="0" y="0"/>
                </a:lnTo>
                <a:close/>
              </a:path>
            </a:pathLst>
          </a:custGeom>
          <a:solidFill>
            <a:srgbClr val="000000">
              <a:alpha val="0"/>
            </a:srgbClr>
          </a:solidFill>
          <a:ln w="14111">
            <a:solidFill>
              <a:srgbClr val="E5E5E5"/>
            </a:solidFill>
            <a:prstDash val="solid"/>
          </a:ln>
        </p:spPr>
      </p:sp>
      <p:sp>
        <p:nvSpPr>
          <p:cNvPr id="17" name="Text 15"/>
          <p:cNvSpPr/>
          <p:nvPr/>
        </p:nvSpPr>
        <p:spPr>
          <a:xfrm>
            <a:off x="3316211" y="3190858"/>
            <a:ext cx="259349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Generate Tests</a:t>
            </a:r>
            <a:endParaRPr lang="en-US" sz="1600" dirty="0"/>
          </a:p>
        </p:txBody>
      </p:sp>
      <p:sp>
        <p:nvSpPr>
          <p:cNvPr id="18" name="Text 16"/>
          <p:cNvSpPr/>
          <p:nvPr/>
        </p:nvSpPr>
        <p:spPr>
          <a:xfrm>
            <a:off x="3316211" y="3397438"/>
            <a:ext cx="2584876" cy="137860"/>
          </a:xfrm>
          <a:prstGeom prst="rect">
            <a:avLst/>
          </a:prstGeom>
          <a:noFill/>
          <a:ln/>
        </p:spPr>
        <p:txBody>
          <a:bodyPr wrap="square" lIns="0" tIns="0" rIns="0" bIns="0" rtlCol="0" anchor="ctr"/>
          <a:lstStyle/>
          <a:p>
            <a:pPr>
              <a:lnSpc>
                <a:spcPct val="110000"/>
              </a:lnSpc>
            </a:pPr>
            <a:r>
              <a:rPr lang="en-US" sz="814" dirty="0">
                <a:solidFill>
                  <a:srgbClr val="86868B"/>
                </a:solidFill>
                <a:latin typeface="MiSans" pitchFamily="34" charset="0"/>
                <a:ea typeface="MiSans" pitchFamily="34" charset="-122"/>
                <a:cs typeface="MiSans" pitchFamily="34" charset="-120"/>
              </a:rPr>
              <a:t>Tạo unit test tự động</a:t>
            </a:r>
            <a:endParaRPr lang="en-US" sz="1600" dirty="0"/>
          </a:p>
        </p:txBody>
      </p:sp>
      <p:sp>
        <p:nvSpPr>
          <p:cNvPr id="19" name="Shape 17"/>
          <p:cNvSpPr/>
          <p:nvPr/>
        </p:nvSpPr>
        <p:spPr>
          <a:xfrm>
            <a:off x="344650" y="4135444"/>
            <a:ext cx="5617798" cy="9574"/>
          </a:xfrm>
          <a:custGeom>
            <a:avLst/>
            <a:gdLst/>
            <a:ahLst/>
            <a:cxnLst/>
            <a:rect l="l" t="t" r="r" b="b"/>
            <a:pathLst>
              <a:path w="5617798" h="9574">
                <a:moveTo>
                  <a:pt x="0" y="0"/>
                </a:moveTo>
                <a:lnTo>
                  <a:pt x="5617798" y="0"/>
                </a:lnTo>
                <a:lnTo>
                  <a:pt x="5617798" y="9574"/>
                </a:lnTo>
                <a:lnTo>
                  <a:pt x="0" y="9574"/>
                </a:lnTo>
                <a:lnTo>
                  <a:pt x="0" y="0"/>
                </a:lnTo>
                <a:close/>
              </a:path>
            </a:pathLst>
          </a:custGeom>
          <a:solidFill>
            <a:srgbClr val="E5E5E5"/>
          </a:solidFill>
          <a:ln/>
        </p:spPr>
      </p:sp>
      <p:sp>
        <p:nvSpPr>
          <p:cNvPr id="20" name="Text 18"/>
          <p:cNvSpPr/>
          <p:nvPr/>
        </p:nvSpPr>
        <p:spPr>
          <a:xfrm>
            <a:off x="344650" y="3820472"/>
            <a:ext cx="5703960" cy="310185"/>
          </a:xfrm>
          <a:prstGeom prst="rect">
            <a:avLst/>
          </a:prstGeom>
          <a:noFill/>
          <a:ln/>
        </p:spPr>
        <p:txBody>
          <a:bodyPr wrap="square" lIns="0" tIns="0" rIns="0" bIns="68930" rtlCol="0" anchor="ctr"/>
          <a:lstStyle/>
          <a:p>
            <a:pPr>
              <a:lnSpc>
                <a:spcPct val="120000"/>
              </a:lnSpc>
            </a:pPr>
            <a:r>
              <a:rPr lang="en-US" sz="1357" dirty="0">
                <a:solidFill>
                  <a:srgbClr val="1D1D1D"/>
                </a:solidFill>
                <a:latin typeface="MiSans" pitchFamily="34" charset="0"/>
                <a:ea typeface="MiSans" pitchFamily="34" charset="-122"/>
                <a:cs typeface="MiSans" pitchFamily="34" charset="-120"/>
              </a:rPr>
              <a:t>Quy trình Code Completion (8 bước)</a:t>
            </a:r>
            <a:endParaRPr lang="en-US" sz="1600" dirty="0"/>
          </a:p>
        </p:txBody>
      </p:sp>
      <p:sp>
        <p:nvSpPr>
          <p:cNvPr id="21" name="Shape 19"/>
          <p:cNvSpPr/>
          <p:nvPr/>
        </p:nvSpPr>
        <p:spPr>
          <a:xfrm>
            <a:off x="344650" y="4277760"/>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22" name="Text 20"/>
          <p:cNvSpPr/>
          <p:nvPr/>
        </p:nvSpPr>
        <p:spPr>
          <a:xfrm>
            <a:off x="318801" y="4277760"/>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1</a:t>
            </a:r>
            <a:endParaRPr lang="en-US" sz="1600" dirty="0"/>
          </a:p>
        </p:txBody>
      </p:sp>
      <p:sp>
        <p:nvSpPr>
          <p:cNvPr id="23" name="Text 21"/>
          <p:cNvSpPr/>
          <p:nvPr/>
        </p:nvSpPr>
        <p:spPr>
          <a:xfrm>
            <a:off x="585786" y="4277760"/>
            <a:ext cx="1094264"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Nhận Starter Code</a:t>
            </a:r>
            <a:endParaRPr lang="en-US" sz="1600" dirty="0"/>
          </a:p>
        </p:txBody>
      </p:sp>
      <p:sp>
        <p:nvSpPr>
          <p:cNvPr id="24" name="Shape 22"/>
          <p:cNvSpPr/>
          <p:nvPr/>
        </p:nvSpPr>
        <p:spPr>
          <a:xfrm>
            <a:off x="3220475" y="4277760"/>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25" name="Text 23"/>
          <p:cNvSpPr/>
          <p:nvPr/>
        </p:nvSpPr>
        <p:spPr>
          <a:xfrm>
            <a:off x="3194626" y="4277760"/>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2</a:t>
            </a:r>
            <a:endParaRPr lang="en-US" sz="1600" dirty="0"/>
          </a:p>
        </p:txBody>
      </p:sp>
      <p:sp>
        <p:nvSpPr>
          <p:cNvPr id="26" name="Text 24"/>
          <p:cNvSpPr/>
          <p:nvPr/>
        </p:nvSpPr>
        <p:spPr>
          <a:xfrm>
            <a:off x="3461610" y="4277760"/>
            <a:ext cx="999486"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Tạo User Prompt</a:t>
            </a:r>
            <a:endParaRPr lang="en-US" sz="1600" dirty="0"/>
          </a:p>
        </p:txBody>
      </p:sp>
      <p:sp>
        <p:nvSpPr>
          <p:cNvPr id="27" name="Shape 25"/>
          <p:cNvSpPr/>
          <p:nvPr/>
        </p:nvSpPr>
        <p:spPr>
          <a:xfrm>
            <a:off x="344650" y="4518897"/>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28" name="Text 26"/>
          <p:cNvSpPr/>
          <p:nvPr/>
        </p:nvSpPr>
        <p:spPr>
          <a:xfrm>
            <a:off x="318801" y="4518897"/>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3</a:t>
            </a:r>
            <a:endParaRPr lang="en-US" sz="1600" dirty="0"/>
          </a:p>
        </p:txBody>
      </p:sp>
      <p:sp>
        <p:nvSpPr>
          <p:cNvPr id="29" name="Text 27"/>
          <p:cNvSpPr/>
          <p:nvPr/>
        </p:nvSpPr>
        <p:spPr>
          <a:xfrm>
            <a:off x="585786" y="4518897"/>
            <a:ext cx="1456147"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Bổ sung System Prompts</a:t>
            </a:r>
            <a:endParaRPr lang="en-US" sz="1600" dirty="0"/>
          </a:p>
        </p:txBody>
      </p:sp>
      <p:sp>
        <p:nvSpPr>
          <p:cNvPr id="30" name="Shape 28"/>
          <p:cNvSpPr/>
          <p:nvPr/>
        </p:nvSpPr>
        <p:spPr>
          <a:xfrm>
            <a:off x="3220475" y="4518897"/>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31" name="Text 29"/>
          <p:cNvSpPr/>
          <p:nvPr/>
        </p:nvSpPr>
        <p:spPr>
          <a:xfrm>
            <a:off x="3194626" y="4518897"/>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4</a:t>
            </a:r>
            <a:endParaRPr lang="en-US" sz="1600" dirty="0"/>
          </a:p>
        </p:txBody>
      </p:sp>
      <p:sp>
        <p:nvSpPr>
          <p:cNvPr id="32" name="Text 30"/>
          <p:cNvSpPr/>
          <p:nvPr/>
        </p:nvSpPr>
        <p:spPr>
          <a:xfrm>
            <a:off x="3461610" y="4518897"/>
            <a:ext cx="125797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Thu thập Recent Files</a:t>
            </a:r>
            <a:endParaRPr lang="en-US" sz="1600" dirty="0"/>
          </a:p>
        </p:txBody>
      </p:sp>
      <p:sp>
        <p:nvSpPr>
          <p:cNvPr id="33" name="Shape 31"/>
          <p:cNvSpPr/>
          <p:nvPr/>
        </p:nvSpPr>
        <p:spPr>
          <a:xfrm>
            <a:off x="344650" y="4760030"/>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34" name="Text 32"/>
          <p:cNvSpPr/>
          <p:nvPr/>
        </p:nvSpPr>
        <p:spPr>
          <a:xfrm>
            <a:off x="318801" y="4760030"/>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5</a:t>
            </a:r>
            <a:endParaRPr lang="en-US" sz="1600" dirty="0"/>
          </a:p>
        </p:txBody>
      </p:sp>
      <p:sp>
        <p:nvSpPr>
          <p:cNvPr id="35" name="Text 33"/>
          <p:cNvSpPr/>
          <p:nvPr/>
        </p:nvSpPr>
        <p:spPr>
          <a:xfrm>
            <a:off x="585786" y="4760030"/>
            <a:ext cx="990869"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Thu thập Git Info</a:t>
            </a:r>
            <a:endParaRPr lang="en-US" sz="1600" dirty="0"/>
          </a:p>
        </p:txBody>
      </p:sp>
      <p:sp>
        <p:nvSpPr>
          <p:cNvPr id="36" name="Shape 34"/>
          <p:cNvSpPr/>
          <p:nvPr/>
        </p:nvSpPr>
        <p:spPr>
          <a:xfrm>
            <a:off x="3220475" y="4760030"/>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37" name="Text 35"/>
          <p:cNvSpPr/>
          <p:nvPr/>
        </p:nvSpPr>
        <p:spPr>
          <a:xfrm>
            <a:off x="3194626" y="4760030"/>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6</a:t>
            </a:r>
            <a:endParaRPr lang="en-US" sz="1600" dirty="0"/>
          </a:p>
        </p:txBody>
      </p:sp>
      <p:sp>
        <p:nvSpPr>
          <p:cNvPr id="38" name="Text 36"/>
          <p:cNvSpPr/>
          <p:nvPr/>
        </p:nvSpPr>
        <p:spPr>
          <a:xfrm>
            <a:off x="3461610" y="4760030"/>
            <a:ext cx="939172"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Kết hợp Prompt</a:t>
            </a:r>
            <a:endParaRPr lang="en-US" sz="1600" dirty="0"/>
          </a:p>
        </p:txBody>
      </p:sp>
      <p:sp>
        <p:nvSpPr>
          <p:cNvPr id="39" name="Shape 37"/>
          <p:cNvSpPr/>
          <p:nvPr/>
        </p:nvSpPr>
        <p:spPr>
          <a:xfrm>
            <a:off x="344650" y="5001168"/>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40" name="Text 38"/>
          <p:cNvSpPr/>
          <p:nvPr/>
        </p:nvSpPr>
        <p:spPr>
          <a:xfrm>
            <a:off x="318801" y="5001168"/>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7</a:t>
            </a:r>
            <a:endParaRPr lang="en-US" sz="1600" dirty="0"/>
          </a:p>
        </p:txBody>
      </p:sp>
      <p:sp>
        <p:nvSpPr>
          <p:cNvPr id="41" name="Text 39"/>
          <p:cNvSpPr/>
          <p:nvPr/>
        </p:nvSpPr>
        <p:spPr>
          <a:xfrm>
            <a:off x="585786" y="5001168"/>
            <a:ext cx="775463"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Gửi đến LLM</a:t>
            </a:r>
            <a:endParaRPr lang="en-US" sz="1600" dirty="0"/>
          </a:p>
        </p:txBody>
      </p:sp>
      <p:sp>
        <p:nvSpPr>
          <p:cNvPr id="42" name="Shape 40"/>
          <p:cNvSpPr/>
          <p:nvPr/>
        </p:nvSpPr>
        <p:spPr>
          <a:xfrm>
            <a:off x="3220475" y="5001168"/>
            <a:ext cx="172325" cy="172325"/>
          </a:xfrm>
          <a:custGeom>
            <a:avLst/>
            <a:gdLst/>
            <a:ahLst/>
            <a:cxnLst/>
            <a:rect l="l" t="t" r="r" b="b"/>
            <a:pathLst>
              <a:path w="172325" h="172325">
                <a:moveTo>
                  <a:pt x="86163" y="0"/>
                </a:moveTo>
                <a:lnTo>
                  <a:pt x="86163" y="0"/>
                </a:lnTo>
                <a:cubicBezTo>
                  <a:pt x="133717" y="0"/>
                  <a:pt x="172325" y="38608"/>
                  <a:pt x="172325" y="86163"/>
                </a:cubicBezTo>
                <a:lnTo>
                  <a:pt x="172325" y="86163"/>
                </a:lnTo>
                <a:cubicBezTo>
                  <a:pt x="172325" y="133717"/>
                  <a:pt x="133717" y="172325"/>
                  <a:pt x="86163" y="172325"/>
                </a:cubicBezTo>
                <a:lnTo>
                  <a:pt x="86163" y="172325"/>
                </a:lnTo>
                <a:cubicBezTo>
                  <a:pt x="38608" y="172325"/>
                  <a:pt x="0" y="133717"/>
                  <a:pt x="0" y="86163"/>
                </a:cubicBezTo>
                <a:lnTo>
                  <a:pt x="0" y="86163"/>
                </a:lnTo>
                <a:cubicBezTo>
                  <a:pt x="0" y="38608"/>
                  <a:pt x="38608" y="0"/>
                  <a:pt x="86163" y="0"/>
                </a:cubicBezTo>
                <a:close/>
              </a:path>
            </a:pathLst>
          </a:custGeom>
          <a:solidFill>
            <a:srgbClr val="1D1D1D"/>
          </a:solidFill>
          <a:ln/>
        </p:spPr>
      </p:sp>
      <p:sp>
        <p:nvSpPr>
          <p:cNvPr id="43" name="Text 41"/>
          <p:cNvSpPr/>
          <p:nvPr/>
        </p:nvSpPr>
        <p:spPr>
          <a:xfrm>
            <a:off x="3194626" y="5001168"/>
            <a:ext cx="224023" cy="172325"/>
          </a:xfrm>
          <a:prstGeom prst="rect">
            <a:avLst/>
          </a:prstGeom>
          <a:noFill/>
          <a:ln/>
        </p:spPr>
        <p:txBody>
          <a:bodyPr wrap="square" lIns="0" tIns="0" rIns="0" bIns="0" rtlCol="0" anchor="ctr"/>
          <a:lstStyle/>
          <a:p>
            <a:pPr algn="ctr">
              <a:lnSpc>
                <a:spcPct val="110000"/>
              </a:lnSpc>
            </a:pPr>
            <a:r>
              <a:rPr lang="en-US" sz="814" dirty="0">
                <a:solidFill>
                  <a:srgbClr val="FFFFFF"/>
                </a:solidFill>
                <a:latin typeface="MiSans" pitchFamily="34" charset="0"/>
                <a:ea typeface="MiSans" pitchFamily="34" charset="-122"/>
                <a:cs typeface="MiSans" pitchFamily="34" charset="-120"/>
              </a:rPr>
              <a:t>8</a:t>
            </a:r>
            <a:endParaRPr lang="en-US" sz="1600" dirty="0"/>
          </a:p>
        </p:txBody>
      </p:sp>
      <p:sp>
        <p:nvSpPr>
          <p:cNvPr id="44" name="Text 42"/>
          <p:cNvSpPr/>
          <p:nvPr/>
        </p:nvSpPr>
        <p:spPr>
          <a:xfrm>
            <a:off x="3461610" y="5001168"/>
            <a:ext cx="956404" cy="172325"/>
          </a:xfrm>
          <a:prstGeom prst="rect">
            <a:avLst/>
          </a:prstGeom>
          <a:noFill/>
          <a:ln/>
        </p:spPr>
        <p:txBody>
          <a:bodyPr wrap="square" lIns="0" tIns="0" rIns="0" bIns="0" rtlCol="0" anchor="ctr"/>
          <a:lstStyle/>
          <a:p>
            <a:pPr>
              <a:lnSpc>
                <a:spcPct val="120000"/>
              </a:lnSpc>
            </a:pPr>
            <a:r>
              <a:rPr lang="en-US" sz="950" dirty="0">
                <a:solidFill>
                  <a:srgbClr val="1D1D1D"/>
                </a:solidFill>
                <a:latin typeface="MiSans" pitchFamily="34" charset="0"/>
                <a:ea typeface="MiSans" pitchFamily="34" charset="-122"/>
                <a:cs typeface="MiSans" pitchFamily="34" charset="-120"/>
              </a:rPr>
              <a:t>Post-processing</a:t>
            </a:r>
            <a:endParaRPr lang="en-US" sz="1600" dirty="0"/>
          </a:p>
        </p:txBody>
      </p:sp>
      <p:sp>
        <p:nvSpPr>
          <p:cNvPr id="45" name="Shape 43"/>
          <p:cNvSpPr/>
          <p:nvPr/>
        </p:nvSpPr>
        <p:spPr>
          <a:xfrm>
            <a:off x="6239006" y="1141804"/>
            <a:ext cx="5601523" cy="1956847"/>
          </a:xfrm>
          <a:custGeom>
            <a:avLst/>
            <a:gdLst/>
            <a:ahLst/>
            <a:cxnLst/>
            <a:rect l="l" t="t" r="r" b="b"/>
            <a:pathLst>
              <a:path w="5601523" h="1956847">
                <a:moveTo>
                  <a:pt x="0" y="0"/>
                </a:moveTo>
                <a:lnTo>
                  <a:pt x="5601523" y="0"/>
                </a:lnTo>
                <a:lnTo>
                  <a:pt x="5601523" y="1956847"/>
                </a:lnTo>
                <a:lnTo>
                  <a:pt x="0" y="1956847"/>
                </a:lnTo>
                <a:lnTo>
                  <a:pt x="0" y="0"/>
                </a:lnTo>
                <a:close/>
              </a:path>
            </a:pathLst>
          </a:custGeom>
          <a:solidFill>
            <a:srgbClr val="000000">
              <a:alpha val="0"/>
            </a:srgbClr>
          </a:solidFill>
          <a:ln w="14111">
            <a:solidFill>
              <a:srgbClr val="E5E5E5"/>
            </a:solidFill>
            <a:prstDash val="solid"/>
          </a:ln>
        </p:spPr>
      </p:sp>
      <p:sp>
        <p:nvSpPr>
          <p:cNvPr id="46" name="Text 44"/>
          <p:cNvSpPr/>
          <p:nvPr/>
        </p:nvSpPr>
        <p:spPr>
          <a:xfrm>
            <a:off x="6416118" y="1318914"/>
            <a:ext cx="5324845" cy="241255"/>
          </a:xfrm>
          <a:prstGeom prst="rect">
            <a:avLst/>
          </a:prstGeom>
          <a:noFill/>
          <a:ln/>
        </p:spPr>
        <p:txBody>
          <a:bodyPr wrap="square" lIns="0" tIns="0" rIns="0" bIns="0" rtlCol="0" anchor="ctr"/>
          <a:lstStyle/>
          <a:p>
            <a:pPr>
              <a:lnSpc>
                <a:spcPct val="130000"/>
              </a:lnSpc>
            </a:pPr>
            <a:r>
              <a:rPr lang="en-US" sz="1221" dirty="0">
                <a:solidFill>
                  <a:srgbClr val="1D1D1D"/>
                </a:solidFill>
                <a:latin typeface="MiSans" pitchFamily="34" charset="0"/>
                <a:ea typeface="MiSans" pitchFamily="34" charset="-122"/>
                <a:cs typeface="MiSans" pitchFamily="34" charset="-120"/>
              </a:rPr>
              <a:t>Các gói dịch vụ</a:t>
            </a:r>
            <a:endParaRPr lang="en-US" sz="1600" dirty="0"/>
          </a:p>
        </p:txBody>
      </p:sp>
      <p:sp>
        <p:nvSpPr>
          <p:cNvPr id="47" name="Shape 45"/>
          <p:cNvSpPr/>
          <p:nvPr/>
        </p:nvSpPr>
        <p:spPr>
          <a:xfrm>
            <a:off x="6416118" y="1978477"/>
            <a:ext cx="5247299" cy="9574"/>
          </a:xfrm>
          <a:custGeom>
            <a:avLst/>
            <a:gdLst/>
            <a:ahLst/>
            <a:cxnLst/>
            <a:rect l="l" t="t" r="r" b="b"/>
            <a:pathLst>
              <a:path w="5247299" h="9574">
                <a:moveTo>
                  <a:pt x="0" y="0"/>
                </a:moveTo>
                <a:lnTo>
                  <a:pt x="5247299" y="0"/>
                </a:lnTo>
                <a:lnTo>
                  <a:pt x="5247299" y="9574"/>
                </a:lnTo>
                <a:lnTo>
                  <a:pt x="0" y="9574"/>
                </a:lnTo>
                <a:lnTo>
                  <a:pt x="0" y="0"/>
                </a:lnTo>
                <a:close/>
              </a:path>
            </a:pathLst>
          </a:custGeom>
          <a:solidFill>
            <a:srgbClr val="E5E5E5"/>
          </a:solidFill>
          <a:ln/>
        </p:spPr>
      </p:sp>
      <p:sp>
        <p:nvSpPr>
          <p:cNvPr id="48" name="Text 46"/>
          <p:cNvSpPr/>
          <p:nvPr/>
        </p:nvSpPr>
        <p:spPr>
          <a:xfrm>
            <a:off x="6416118" y="1697970"/>
            <a:ext cx="672068"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Individual</a:t>
            </a:r>
            <a:endParaRPr lang="en-US" sz="1600" dirty="0"/>
          </a:p>
        </p:txBody>
      </p:sp>
      <p:sp>
        <p:nvSpPr>
          <p:cNvPr id="49" name="Text 47"/>
          <p:cNvSpPr/>
          <p:nvPr/>
        </p:nvSpPr>
        <p:spPr>
          <a:xfrm>
            <a:off x="11029255" y="1697970"/>
            <a:ext cx="706533"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$10/tháng</a:t>
            </a:r>
            <a:endParaRPr lang="en-US" sz="1600" dirty="0"/>
          </a:p>
        </p:txBody>
      </p:sp>
      <p:sp>
        <p:nvSpPr>
          <p:cNvPr id="50" name="Shape 48"/>
          <p:cNvSpPr/>
          <p:nvPr/>
        </p:nvSpPr>
        <p:spPr>
          <a:xfrm>
            <a:off x="6416118" y="2367105"/>
            <a:ext cx="5247299" cy="9574"/>
          </a:xfrm>
          <a:custGeom>
            <a:avLst/>
            <a:gdLst/>
            <a:ahLst/>
            <a:cxnLst/>
            <a:rect l="l" t="t" r="r" b="b"/>
            <a:pathLst>
              <a:path w="5247299" h="9574">
                <a:moveTo>
                  <a:pt x="0" y="0"/>
                </a:moveTo>
                <a:lnTo>
                  <a:pt x="5247299" y="0"/>
                </a:lnTo>
                <a:lnTo>
                  <a:pt x="5247299" y="9574"/>
                </a:lnTo>
                <a:lnTo>
                  <a:pt x="0" y="9574"/>
                </a:lnTo>
                <a:lnTo>
                  <a:pt x="0" y="0"/>
                </a:lnTo>
                <a:close/>
              </a:path>
            </a:pathLst>
          </a:custGeom>
          <a:solidFill>
            <a:srgbClr val="E5E5E5"/>
          </a:solidFill>
          <a:ln/>
        </p:spPr>
      </p:sp>
      <p:sp>
        <p:nvSpPr>
          <p:cNvPr id="51" name="Text 49"/>
          <p:cNvSpPr/>
          <p:nvPr/>
        </p:nvSpPr>
        <p:spPr>
          <a:xfrm>
            <a:off x="6416118" y="2086598"/>
            <a:ext cx="620370"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Business</a:t>
            </a:r>
            <a:endParaRPr lang="en-US" sz="1600" dirty="0"/>
          </a:p>
        </p:txBody>
      </p:sp>
      <p:sp>
        <p:nvSpPr>
          <p:cNvPr id="52" name="Text 50"/>
          <p:cNvSpPr/>
          <p:nvPr/>
        </p:nvSpPr>
        <p:spPr>
          <a:xfrm>
            <a:off x="10707042" y="2086598"/>
            <a:ext cx="1025334"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$19/user/tháng</a:t>
            </a:r>
            <a:endParaRPr lang="en-US" sz="1600" dirty="0"/>
          </a:p>
        </p:txBody>
      </p:sp>
      <p:sp>
        <p:nvSpPr>
          <p:cNvPr id="53" name="Text 51"/>
          <p:cNvSpPr/>
          <p:nvPr/>
        </p:nvSpPr>
        <p:spPr>
          <a:xfrm>
            <a:off x="6416118" y="2475229"/>
            <a:ext cx="715149"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Enterprise</a:t>
            </a:r>
            <a:endParaRPr lang="en-US" sz="1600" dirty="0"/>
          </a:p>
        </p:txBody>
      </p:sp>
      <p:sp>
        <p:nvSpPr>
          <p:cNvPr id="54" name="Text 52"/>
          <p:cNvSpPr/>
          <p:nvPr/>
        </p:nvSpPr>
        <p:spPr>
          <a:xfrm>
            <a:off x="10680117" y="2475229"/>
            <a:ext cx="1051183"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$39/user/tháng</a:t>
            </a:r>
            <a:endParaRPr lang="en-US" sz="1600" dirty="0"/>
          </a:p>
        </p:txBody>
      </p:sp>
      <p:sp>
        <p:nvSpPr>
          <p:cNvPr id="55" name="Text 53"/>
          <p:cNvSpPr/>
          <p:nvPr/>
        </p:nvSpPr>
        <p:spPr>
          <a:xfrm>
            <a:off x="6416118" y="2785473"/>
            <a:ext cx="5298996" cy="137860"/>
          </a:xfrm>
          <a:prstGeom prst="rect">
            <a:avLst/>
          </a:prstGeom>
          <a:noFill/>
          <a:ln/>
        </p:spPr>
        <p:txBody>
          <a:bodyPr wrap="square" lIns="0" tIns="0" rIns="0" bIns="0" rtlCol="0" anchor="ctr"/>
          <a:lstStyle/>
          <a:p>
            <a:pPr>
              <a:lnSpc>
                <a:spcPct val="110000"/>
              </a:lnSpc>
            </a:pPr>
            <a:r>
              <a:rPr lang="en-US" sz="814" dirty="0">
                <a:solidFill>
                  <a:srgbClr val="86868B"/>
                </a:solidFill>
                <a:latin typeface="MiSans" pitchFamily="34" charset="0"/>
                <a:ea typeface="MiSans" pitchFamily="34" charset="-122"/>
                <a:cs typeface="MiSans" pitchFamily="34" charset="-120"/>
              </a:rPr>
              <a:t>Business &amp; Enterprise: Pull request summary, Knowledge base, Fine-tuning LLM</a:t>
            </a:r>
            <a:endParaRPr lang="en-US" sz="1600" dirty="0"/>
          </a:p>
        </p:txBody>
      </p:sp>
      <p:sp>
        <p:nvSpPr>
          <p:cNvPr id="56" name="Shape 54"/>
          <p:cNvSpPr/>
          <p:nvPr/>
        </p:nvSpPr>
        <p:spPr>
          <a:xfrm>
            <a:off x="6239006" y="3282253"/>
            <a:ext cx="5601523" cy="2180870"/>
          </a:xfrm>
          <a:custGeom>
            <a:avLst/>
            <a:gdLst/>
            <a:ahLst/>
            <a:cxnLst/>
            <a:rect l="l" t="t" r="r" b="b"/>
            <a:pathLst>
              <a:path w="5601523" h="2180870">
                <a:moveTo>
                  <a:pt x="0" y="0"/>
                </a:moveTo>
                <a:lnTo>
                  <a:pt x="5601523" y="0"/>
                </a:lnTo>
                <a:lnTo>
                  <a:pt x="5601523" y="2180870"/>
                </a:lnTo>
                <a:lnTo>
                  <a:pt x="0" y="2180870"/>
                </a:lnTo>
                <a:lnTo>
                  <a:pt x="0" y="0"/>
                </a:lnTo>
                <a:close/>
              </a:path>
            </a:pathLst>
          </a:custGeom>
          <a:solidFill>
            <a:srgbClr val="000000">
              <a:alpha val="0"/>
            </a:srgbClr>
          </a:solidFill>
          <a:ln w="14111">
            <a:solidFill>
              <a:srgbClr val="E5E5E5"/>
            </a:solidFill>
            <a:prstDash val="solid"/>
          </a:ln>
        </p:spPr>
      </p:sp>
      <p:sp>
        <p:nvSpPr>
          <p:cNvPr id="57" name="Text 55"/>
          <p:cNvSpPr/>
          <p:nvPr/>
        </p:nvSpPr>
        <p:spPr>
          <a:xfrm>
            <a:off x="6416118" y="3459367"/>
            <a:ext cx="5324845" cy="241255"/>
          </a:xfrm>
          <a:prstGeom prst="rect">
            <a:avLst/>
          </a:prstGeom>
          <a:noFill/>
          <a:ln/>
        </p:spPr>
        <p:txBody>
          <a:bodyPr wrap="square" lIns="0" tIns="0" rIns="0" bIns="0" rtlCol="0" anchor="ctr"/>
          <a:lstStyle/>
          <a:p>
            <a:pPr>
              <a:lnSpc>
                <a:spcPct val="130000"/>
              </a:lnSpc>
            </a:pPr>
            <a:r>
              <a:rPr lang="en-US" sz="1221" dirty="0">
                <a:solidFill>
                  <a:srgbClr val="1D1D1D"/>
                </a:solidFill>
                <a:latin typeface="MiSans" pitchFamily="34" charset="0"/>
                <a:ea typeface="MiSans" pitchFamily="34" charset="-122"/>
                <a:cs typeface="MiSans" pitchFamily="34" charset="-120"/>
              </a:rPr>
              <a:t>Ba chế độ tương tác</a:t>
            </a:r>
            <a:endParaRPr lang="en-US" sz="1600" dirty="0"/>
          </a:p>
        </p:txBody>
      </p:sp>
      <p:sp>
        <p:nvSpPr>
          <p:cNvPr id="58" name="Text 56"/>
          <p:cNvSpPr/>
          <p:nvPr/>
        </p:nvSpPr>
        <p:spPr>
          <a:xfrm>
            <a:off x="6416118" y="3838424"/>
            <a:ext cx="5316229"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Chat</a:t>
            </a:r>
            <a:endParaRPr lang="en-US" sz="1600" dirty="0"/>
          </a:p>
        </p:txBody>
      </p:sp>
      <p:sp>
        <p:nvSpPr>
          <p:cNvPr id="59" name="Text 57"/>
          <p:cNvSpPr/>
          <p:nvPr/>
        </p:nvSpPr>
        <p:spPr>
          <a:xfrm>
            <a:off x="6416118" y="4079708"/>
            <a:ext cx="5307613" cy="172325"/>
          </a:xfrm>
          <a:prstGeom prst="rect">
            <a:avLst/>
          </a:prstGeom>
          <a:noFill/>
          <a:ln/>
        </p:spPr>
        <p:txBody>
          <a:bodyPr wrap="square" lIns="0" tIns="0" rIns="0" bIns="0" rtlCol="0" anchor="ctr"/>
          <a:lstStyle/>
          <a:p>
            <a:pPr>
              <a:lnSpc>
                <a:spcPct val="120000"/>
              </a:lnSpc>
            </a:pPr>
            <a:r>
              <a:rPr lang="en-US" sz="950" dirty="0">
                <a:solidFill>
                  <a:srgbClr val="86868B"/>
                </a:solidFill>
                <a:latin typeface="MiSans" pitchFamily="34" charset="0"/>
                <a:ea typeface="MiSans" pitchFamily="34" charset="-122"/>
                <a:cs typeface="MiSans" pitchFamily="34" charset="-120"/>
              </a:rPr>
              <a:t>Trao đổi trực tiếp qua cửa sổ chat</a:t>
            </a:r>
            <a:endParaRPr lang="en-US" sz="1600" dirty="0"/>
          </a:p>
        </p:txBody>
      </p:sp>
      <p:sp>
        <p:nvSpPr>
          <p:cNvPr id="60" name="Text 58"/>
          <p:cNvSpPr/>
          <p:nvPr/>
        </p:nvSpPr>
        <p:spPr>
          <a:xfrm>
            <a:off x="6416118" y="4355247"/>
            <a:ext cx="5316229"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Completion</a:t>
            </a:r>
            <a:endParaRPr lang="en-US" sz="1600" dirty="0"/>
          </a:p>
        </p:txBody>
      </p:sp>
      <p:sp>
        <p:nvSpPr>
          <p:cNvPr id="61" name="Text 59"/>
          <p:cNvSpPr/>
          <p:nvPr/>
        </p:nvSpPr>
        <p:spPr>
          <a:xfrm>
            <a:off x="6416118" y="4596532"/>
            <a:ext cx="5307613" cy="172325"/>
          </a:xfrm>
          <a:prstGeom prst="rect">
            <a:avLst/>
          </a:prstGeom>
          <a:noFill/>
          <a:ln/>
        </p:spPr>
        <p:txBody>
          <a:bodyPr wrap="square" lIns="0" tIns="0" rIns="0" bIns="0" rtlCol="0" anchor="ctr"/>
          <a:lstStyle/>
          <a:p>
            <a:pPr>
              <a:lnSpc>
                <a:spcPct val="120000"/>
              </a:lnSpc>
            </a:pPr>
            <a:r>
              <a:rPr lang="en-US" sz="950" dirty="0">
                <a:solidFill>
                  <a:srgbClr val="86868B"/>
                </a:solidFill>
                <a:latin typeface="MiSans" pitchFamily="34" charset="0"/>
                <a:ea typeface="MiSans" pitchFamily="34" charset="-122"/>
                <a:cs typeface="MiSans" pitchFamily="34" charset="-120"/>
              </a:rPr>
              <a:t>Gợi ý code inline tự động</a:t>
            </a:r>
            <a:endParaRPr lang="en-US" sz="1600" dirty="0"/>
          </a:p>
        </p:txBody>
      </p:sp>
      <p:sp>
        <p:nvSpPr>
          <p:cNvPr id="62" name="Text 60"/>
          <p:cNvSpPr/>
          <p:nvPr/>
        </p:nvSpPr>
        <p:spPr>
          <a:xfrm>
            <a:off x="6416118" y="4872071"/>
            <a:ext cx="5316229" cy="206790"/>
          </a:xfrm>
          <a:prstGeom prst="rect">
            <a:avLst/>
          </a:prstGeom>
          <a:noFill/>
          <a:ln/>
        </p:spPr>
        <p:txBody>
          <a:bodyPr wrap="square" lIns="0" tIns="0" rIns="0" bIns="0" rtlCol="0" anchor="ctr"/>
          <a:lstStyle/>
          <a:p>
            <a:pPr>
              <a:lnSpc>
                <a:spcPct val="120000"/>
              </a:lnSpc>
            </a:pPr>
            <a:r>
              <a:rPr lang="en-US" sz="1086" dirty="0">
                <a:solidFill>
                  <a:srgbClr val="1D1D1D"/>
                </a:solidFill>
                <a:latin typeface="MiSans" pitchFamily="34" charset="0"/>
                <a:ea typeface="MiSans" pitchFamily="34" charset="-122"/>
                <a:cs typeface="MiSans" pitchFamily="34" charset="-120"/>
              </a:rPr>
              <a:t>Analysis</a:t>
            </a:r>
            <a:endParaRPr lang="en-US" sz="1600" dirty="0"/>
          </a:p>
        </p:txBody>
      </p:sp>
      <p:sp>
        <p:nvSpPr>
          <p:cNvPr id="63" name="Text 61"/>
          <p:cNvSpPr/>
          <p:nvPr/>
        </p:nvSpPr>
        <p:spPr>
          <a:xfrm>
            <a:off x="6416118" y="5113360"/>
            <a:ext cx="5307613" cy="172325"/>
          </a:xfrm>
          <a:prstGeom prst="rect">
            <a:avLst/>
          </a:prstGeom>
          <a:noFill/>
          <a:ln/>
        </p:spPr>
        <p:txBody>
          <a:bodyPr wrap="square" lIns="0" tIns="0" rIns="0" bIns="0" rtlCol="0" anchor="ctr"/>
          <a:lstStyle/>
          <a:p>
            <a:pPr>
              <a:lnSpc>
                <a:spcPct val="120000"/>
              </a:lnSpc>
            </a:pPr>
            <a:r>
              <a:rPr lang="en-US" sz="950" dirty="0">
                <a:solidFill>
                  <a:srgbClr val="86868B"/>
                </a:solidFill>
                <a:latin typeface="MiSans" pitchFamily="34" charset="0"/>
                <a:ea typeface="MiSans" pitchFamily="34" charset="-122"/>
                <a:cs typeface="MiSans" pitchFamily="34" charset="-120"/>
              </a:rPr>
              <a:t>Explain, Fix, Generate Tests</a:t>
            </a:r>
            <a:endParaRPr lang="en-US" sz="1600" dirty="0"/>
          </a:p>
        </p:txBody>
      </p:sp>
      <p:sp>
        <p:nvSpPr>
          <p:cNvPr id="64" name="Shape 62"/>
          <p:cNvSpPr/>
          <p:nvPr/>
        </p:nvSpPr>
        <p:spPr>
          <a:xfrm>
            <a:off x="6239006" y="5644546"/>
            <a:ext cx="5601523" cy="750571"/>
          </a:xfrm>
          <a:custGeom>
            <a:avLst/>
            <a:gdLst/>
            <a:ahLst/>
            <a:cxnLst/>
            <a:rect l="l" t="t" r="r" b="b"/>
            <a:pathLst>
              <a:path w="5601523" h="750571">
                <a:moveTo>
                  <a:pt x="0" y="0"/>
                </a:moveTo>
                <a:lnTo>
                  <a:pt x="5601523" y="0"/>
                </a:lnTo>
                <a:lnTo>
                  <a:pt x="5601523" y="750571"/>
                </a:lnTo>
                <a:lnTo>
                  <a:pt x="0" y="750571"/>
                </a:lnTo>
                <a:lnTo>
                  <a:pt x="0" y="0"/>
                </a:lnTo>
                <a:close/>
              </a:path>
            </a:pathLst>
          </a:custGeom>
          <a:solidFill>
            <a:srgbClr val="000000">
              <a:alpha val="0"/>
            </a:srgbClr>
          </a:solidFill>
          <a:ln w="14111">
            <a:solidFill>
              <a:srgbClr val="E5E5E5"/>
            </a:solidFill>
            <a:prstDash val="solid"/>
          </a:ln>
        </p:spPr>
      </p:sp>
      <p:sp>
        <p:nvSpPr>
          <p:cNvPr id="65" name="Text 63"/>
          <p:cNvSpPr/>
          <p:nvPr/>
        </p:nvSpPr>
        <p:spPr>
          <a:xfrm>
            <a:off x="6381563" y="5787102"/>
            <a:ext cx="5376543" cy="172325"/>
          </a:xfrm>
          <a:prstGeom prst="rect">
            <a:avLst/>
          </a:prstGeom>
          <a:noFill/>
          <a:ln/>
        </p:spPr>
        <p:txBody>
          <a:bodyPr wrap="square" lIns="0" tIns="0" rIns="0" bIns="0" rtlCol="0" anchor="ctr"/>
          <a:lstStyle/>
          <a:p>
            <a:pPr>
              <a:lnSpc>
                <a:spcPct val="120000"/>
              </a:lnSpc>
            </a:pPr>
            <a:r>
              <a:rPr lang="en-US" sz="950" dirty="0">
                <a:solidFill>
                  <a:srgbClr val="86868B"/>
                </a:solidFill>
                <a:latin typeface="MiSans" pitchFamily="34" charset="0"/>
                <a:ea typeface="MiSans" pitchFamily="34" charset="-122"/>
                <a:cs typeface="MiSans" pitchFamily="34" charset="-120"/>
              </a:rPr>
              <a:t>Phím tắt quan trọng</a:t>
            </a:r>
            <a:endParaRPr lang="en-US" sz="1600" dirty="0"/>
          </a:p>
        </p:txBody>
      </p:sp>
      <p:sp>
        <p:nvSpPr>
          <p:cNvPr id="66" name="Text 64"/>
          <p:cNvSpPr/>
          <p:nvPr/>
        </p:nvSpPr>
        <p:spPr>
          <a:xfrm>
            <a:off x="6381563" y="6028088"/>
            <a:ext cx="5385159" cy="224023"/>
          </a:xfrm>
          <a:prstGeom prst="rect">
            <a:avLst/>
          </a:prstGeom>
          <a:noFill/>
          <a:ln/>
        </p:spPr>
        <p:txBody>
          <a:bodyPr wrap="square" lIns="0" tIns="0" rIns="0" bIns="0" rtlCol="0" anchor="ctr"/>
          <a:lstStyle/>
          <a:p>
            <a:pPr>
              <a:lnSpc>
                <a:spcPct val="140000"/>
              </a:lnSpc>
            </a:pPr>
            <a:r>
              <a:rPr lang="en-US" sz="1086" b="1" dirty="0">
                <a:solidFill>
                  <a:srgbClr val="1D1D1D"/>
                </a:solidFill>
                <a:latin typeface="MiSans" pitchFamily="34" charset="0"/>
                <a:ea typeface="MiSans" pitchFamily="34" charset="-122"/>
                <a:cs typeface="MiSans" pitchFamily="34" charset="-120"/>
              </a:rPr>
              <a:t>Tab</a:t>
            </a:r>
            <a:pPr>
              <a:lnSpc>
                <a:spcPct val="140000"/>
              </a:lnSpc>
            </a:pPr>
            <a:r>
              <a:rPr lang="en-US" sz="1086" dirty="0">
                <a:solidFill>
                  <a:srgbClr val="1D1D1D"/>
                </a:solidFill>
                <a:latin typeface="MiSans" pitchFamily="34" charset="0"/>
                <a:ea typeface="MiSans" pitchFamily="34" charset="-122"/>
                <a:cs typeface="MiSans" pitchFamily="34" charset="-120"/>
              </a:rPr>
              <a:t> - Chấp nhận | </a:t>
            </a:r>
            <a:pPr>
              <a:lnSpc>
                <a:spcPct val="140000"/>
              </a:lnSpc>
            </a:pPr>
            <a:r>
              <a:rPr lang="en-US" sz="1086" b="1" dirty="0">
                <a:solidFill>
                  <a:srgbClr val="1D1D1D"/>
                </a:solidFill>
                <a:latin typeface="MiSans" pitchFamily="34" charset="0"/>
                <a:ea typeface="MiSans" pitchFamily="34" charset="-122"/>
                <a:cs typeface="MiSans" pitchFamily="34" charset="-120"/>
              </a:rPr>
              <a:t>Esc</a:t>
            </a:r>
            <a:pPr>
              <a:lnSpc>
                <a:spcPct val="140000"/>
              </a:lnSpc>
            </a:pPr>
            <a:r>
              <a:rPr lang="en-US" sz="1086" dirty="0">
                <a:solidFill>
                  <a:srgbClr val="1D1D1D"/>
                </a:solidFill>
                <a:latin typeface="MiSans" pitchFamily="34" charset="0"/>
                <a:ea typeface="MiSans" pitchFamily="34" charset="-122"/>
                <a:cs typeface="MiSans" pitchFamily="34" charset="-120"/>
              </a:rPr>
              <a:t> - Ẩn | </a:t>
            </a:r>
            <a:pPr>
              <a:lnSpc>
                <a:spcPct val="140000"/>
              </a:lnSpc>
            </a:pPr>
            <a:r>
              <a:rPr lang="en-US" sz="1086" b="1" dirty="0">
                <a:solidFill>
                  <a:srgbClr val="1D1D1D"/>
                </a:solidFill>
                <a:latin typeface="MiSans" pitchFamily="34" charset="0"/>
                <a:ea typeface="MiSans" pitchFamily="34" charset="-122"/>
                <a:cs typeface="MiSans" pitchFamily="34" charset="-120"/>
              </a:rPr>
              <a:t>Alt+\</a:t>
            </a:r>
            <a:pPr>
              <a:lnSpc>
                <a:spcPct val="140000"/>
              </a:lnSpc>
            </a:pPr>
            <a:r>
              <a:rPr lang="en-US" sz="1086" dirty="0">
                <a:solidFill>
                  <a:srgbClr val="1D1D1D"/>
                </a:solidFill>
                <a:latin typeface="MiSans" pitchFamily="34" charset="0"/>
                <a:ea typeface="MiSans" pitchFamily="34" charset="-122"/>
                <a:cs typeface="MiSans" pitchFamily="34" charset="-120"/>
              </a:rPr>
              <a:t> - Kích hoạt | </a:t>
            </a:r>
            <a:pPr>
              <a:lnSpc>
                <a:spcPct val="140000"/>
              </a:lnSpc>
            </a:pPr>
            <a:r>
              <a:rPr lang="en-US" sz="1086" b="1" dirty="0">
                <a:solidFill>
                  <a:srgbClr val="1D1D1D"/>
                </a:solidFill>
                <a:latin typeface="MiSans" pitchFamily="34" charset="0"/>
                <a:ea typeface="MiSans" pitchFamily="34" charset="-122"/>
                <a:cs typeface="MiSans" pitchFamily="34" charset="-120"/>
              </a:rPr>
              <a:t>Alt+]</a:t>
            </a:r>
            <a:pPr>
              <a:lnSpc>
                <a:spcPct val="140000"/>
              </a:lnSpc>
            </a:pPr>
            <a:r>
              <a:rPr lang="en-US" sz="1086" dirty="0">
                <a:solidFill>
                  <a:srgbClr val="1D1D1D"/>
                </a:solidFill>
                <a:latin typeface="MiSans" pitchFamily="34" charset="0"/>
                <a:ea typeface="MiSans" pitchFamily="34" charset="-122"/>
                <a:cs typeface="MiSans" pitchFamily="34" charset="-120"/>
              </a:rPr>
              <a:t> - Gợi ý tiếp</a:t>
            </a:r>
            <a:endParaRPr lang="en-US" sz="1600" dirty="0"/>
          </a:p>
        </p:txBody>
      </p:sp>
      <p:sp>
        <p:nvSpPr>
          <p:cNvPr id="67" name="Shape 65"/>
          <p:cNvSpPr/>
          <p:nvPr/>
        </p:nvSpPr>
        <p:spPr>
          <a:xfrm>
            <a:off x="344650" y="6542071"/>
            <a:ext cx="11502700" cy="9574"/>
          </a:xfrm>
          <a:custGeom>
            <a:avLst/>
            <a:gdLst/>
            <a:ahLst/>
            <a:cxnLst/>
            <a:rect l="l" t="t" r="r" b="b"/>
            <a:pathLst>
              <a:path w="11502700" h="9574">
                <a:moveTo>
                  <a:pt x="0" y="0"/>
                </a:moveTo>
                <a:lnTo>
                  <a:pt x="11502700" y="0"/>
                </a:lnTo>
                <a:lnTo>
                  <a:pt x="11502700" y="9574"/>
                </a:lnTo>
                <a:lnTo>
                  <a:pt x="0" y="9574"/>
                </a:lnTo>
                <a:lnTo>
                  <a:pt x="0" y="0"/>
                </a:lnTo>
                <a:close/>
              </a:path>
            </a:pathLst>
          </a:custGeom>
          <a:solidFill>
            <a:srgbClr val="E5E5E5"/>
          </a:solidFill>
          <a:ln/>
        </p:spPr>
      </p:sp>
      <p:sp>
        <p:nvSpPr>
          <p:cNvPr id="68" name="Text 66"/>
          <p:cNvSpPr/>
          <p:nvPr/>
        </p:nvSpPr>
        <p:spPr>
          <a:xfrm>
            <a:off x="344650" y="6684627"/>
            <a:ext cx="11563013" cy="172325"/>
          </a:xfrm>
          <a:prstGeom prst="rect">
            <a:avLst/>
          </a:prstGeom>
          <a:noFill/>
          <a:ln/>
        </p:spPr>
        <p:txBody>
          <a:bodyPr wrap="square" lIns="0" tIns="0" rIns="0" bIns="0" rtlCol="0" anchor="ctr"/>
          <a:lstStyle/>
          <a:p>
            <a:pPr>
              <a:lnSpc>
                <a:spcPct val="120000"/>
              </a:lnSpc>
            </a:pPr>
            <a:r>
              <a:rPr lang="en-US" sz="950" b="1" dirty="0">
                <a:solidFill>
                  <a:srgbClr val="1D1D1D"/>
                </a:solidFill>
                <a:latin typeface="MiSans" pitchFamily="34" charset="0"/>
                <a:ea typeface="MiSans" pitchFamily="34" charset="-122"/>
                <a:cs typeface="MiSans" pitchFamily="34" charset="-120"/>
              </a:rPr>
              <a:t>Các Lab thực hành:</a:t>
            </a:r>
            <a:pPr>
              <a:lnSpc>
                <a:spcPct val="120000"/>
              </a:lnSpc>
            </a:pPr>
            <a:r>
              <a:rPr lang="en-US" sz="950" dirty="0">
                <a:solidFill>
                  <a:srgbClr val="86868B"/>
                </a:solidFill>
                <a:latin typeface="MiSans" pitchFamily="34" charset="0"/>
                <a:ea typeface="MiSans" pitchFamily="34" charset="-122"/>
                <a:cs typeface="MiSans" pitchFamily="34" charset="-120"/>
              </a:rPr>
              <a:t> Lab 3.1 (Geometric Mean với Chat) → Lab 3.2 (Code Completion &amp; Shortcuts) → Lab 3.3 (Code Analysis với /fix, /explain)</a:t>
            </a:r>
            <a:endParaRPr lang="en-US" sz="16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p:bgPr>
    </p:bg>
    <p:spTree>
      <p:nvGrpSpPr>
        <p:cNvPr id="1" name=""/>
        <p:cNvGrpSpPr/>
        <p:nvPr/>
      </p:nvGrpSpPr>
      <p:grpSpPr>
        <a:xfrm>
          <a:off x="0" y="0"/>
          <a:ext cx="0" cy="0"/>
          <a:chOff x="0" y="0"/>
          <a:chExt cx="0" cy="0"/>
        </a:xfrm>
      </p:grpSpPr>
      <p:pic>
        <p:nvPicPr>
          <p:cNvPr id="2" name="Image 0" descr="https://kimi-web-img.moonshot.cn/img/substackcdn.com/893eb20be310ebf60c9125f136f9a565b351b956.png">    </p:cNvPr>
          <p:cNvPicPr>
            <a:picLocks noChangeAspect="1"/>
          </p:cNvPicPr>
          <p:nvPr/>
        </p:nvPicPr>
        <p:blipFill>
          <a:blip r:embed="rId1">
            <a:alphaModFix amt="5000"/>
          </a:blip>
          <a:srcRect l="2444" r="2444" t="0" b="0"/>
          <a:stretch/>
        </p:blipFill>
        <p:spPr>
          <a:xfrm>
            <a:off x="0" y="0"/>
            <a:ext cx="12192000" cy="6858000"/>
          </a:xfrm>
          <a:prstGeom prst="roundRect">
            <a:avLst>
              <a:gd name="adj" fmla="val 0"/>
            </a:avLst>
          </a:prstGeom>
        </p:spPr>
      </p:pic>
      <p:sp>
        <p:nvSpPr>
          <p:cNvPr id="3" name="Text 0"/>
          <p:cNvSpPr/>
          <p:nvPr/>
        </p:nvSpPr>
        <p:spPr>
          <a:xfrm>
            <a:off x="381000" y="1805118"/>
            <a:ext cx="1581150" cy="914400"/>
          </a:xfrm>
          <a:prstGeom prst="rect">
            <a:avLst/>
          </a:prstGeom>
          <a:noFill/>
          <a:ln/>
        </p:spPr>
        <p:txBody>
          <a:bodyPr wrap="square" lIns="0" tIns="0" rIns="0" bIns="0" rtlCol="0" anchor="ctr"/>
          <a:lstStyle/>
          <a:p>
            <a:pPr>
              <a:lnSpc>
                <a:spcPct val="80000"/>
              </a:lnSpc>
            </a:pPr>
            <a:r>
              <a:rPr lang="en-US" sz="7200" dirty="0">
                <a:solidFill>
                  <a:srgbClr val="E5E5E5"/>
                </a:solidFill>
                <a:latin typeface="Liter" pitchFamily="34" charset="0"/>
                <a:ea typeface="Liter" pitchFamily="34" charset="-122"/>
                <a:cs typeface="Liter" pitchFamily="34" charset="-120"/>
              </a:rPr>
              <a:t>04</a:t>
            </a:r>
            <a:endParaRPr lang="en-US" sz="1600" dirty="0"/>
          </a:p>
        </p:txBody>
      </p:sp>
      <p:sp>
        <p:nvSpPr>
          <p:cNvPr id="4" name="Shape 1"/>
          <p:cNvSpPr/>
          <p:nvPr/>
        </p:nvSpPr>
        <p:spPr>
          <a:xfrm>
            <a:off x="1731533" y="1805118"/>
            <a:ext cx="9525" cy="914400"/>
          </a:xfrm>
          <a:custGeom>
            <a:avLst/>
            <a:gdLst/>
            <a:ahLst/>
            <a:cxnLst/>
            <a:rect l="l" t="t" r="r" b="b"/>
            <a:pathLst>
              <a:path w="9525" h="914400">
                <a:moveTo>
                  <a:pt x="0" y="0"/>
                </a:moveTo>
                <a:lnTo>
                  <a:pt x="9525" y="0"/>
                </a:lnTo>
                <a:lnTo>
                  <a:pt x="9525" y="914400"/>
                </a:lnTo>
                <a:lnTo>
                  <a:pt x="0" y="914400"/>
                </a:lnTo>
                <a:lnTo>
                  <a:pt x="0" y="0"/>
                </a:lnTo>
                <a:close/>
              </a:path>
            </a:pathLst>
          </a:custGeom>
          <a:solidFill>
            <a:srgbClr val="E5E5E5"/>
          </a:solidFill>
          <a:ln/>
        </p:spPr>
      </p:sp>
      <p:sp>
        <p:nvSpPr>
          <p:cNvPr id="5" name="Text 2"/>
          <p:cNvSpPr/>
          <p:nvPr/>
        </p:nvSpPr>
        <p:spPr>
          <a:xfrm>
            <a:off x="381000" y="3024350"/>
            <a:ext cx="5772150" cy="1428750"/>
          </a:xfrm>
          <a:prstGeom prst="rect">
            <a:avLst/>
          </a:prstGeom>
          <a:noFill/>
          <a:ln/>
        </p:spPr>
        <p:txBody>
          <a:bodyPr wrap="square" lIns="0" tIns="0" rIns="0" bIns="0" rtlCol="0" anchor="ctr"/>
          <a:lstStyle/>
          <a:p>
            <a:pPr>
              <a:lnSpc>
                <a:spcPct val="100000"/>
              </a:lnSpc>
            </a:pPr>
            <a:r>
              <a:rPr lang="en-US" sz="4500" dirty="0">
                <a:solidFill>
                  <a:srgbClr val="1D1D1D"/>
                </a:solidFill>
                <a:latin typeface="Liter" pitchFamily="34" charset="0"/>
                <a:ea typeface="Liter" pitchFamily="34" charset="-122"/>
                <a:cs typeface="Liter" pitchFamily="34" charset="-120"/>
              </a:rPr>
              <a:t>Phương pháp tốt nhất</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với ChatGPT</a:t>
            </a:r>
            <a:endParaRPr lang="en-US" sz="1600" dirty="0"/>
          </a:p>
        </p:txBody>
      </p:sp>
      <p:sp>
        <p:nvSpPr>
          <p:cNvPr id="6" name="Text 3"/>
          <p:cNvSpPr/>
          <p:nvPr/>
        </p:nvSpPr>
        <p:spPr>
          <a:xfrm>
            <a:off x="381000" y="4681635"/>
            <a:ext cx="5600700"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MiSans" pitchFamily="34" charset="0"/>
                <a:ea typeface="MiSans" pitchFamily="34" charset="-122"/>
                <a:cs typeface="MiSans" pitchFamily="34" charset="-120"/>
              </a:rPr>
              <a:t>Prompt Engineering cho kết quả chất lượng cao</a:t>
            </a:r>
            <a:endParaRPr lang="en-US" sz="16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spc="105" kern="0" dirty="0">
                <a:solidFill>
                  <a:srgbClr val="86868B"/>
                </a:solidFill>
                <a:latin typeface="MiSans" pitchFamily="34" charset="0"/>
                <a:ea typeface="MiSans" pitchFamily="34" charset="-122"/>
                <a:cs typeface="MiSans" pitchFamily="34" charset="-120"/>
              </a:rPr>
              <a:t>Chapter 04</a:t>
            </a:r>
            <a:endParaRPr lang="en-US" sz="1600" dirty="0"/>
          </a:p>
        </p:txBody>
      </p:sp>
      <p:sp>
        <p:nvSpPr>
          <p:cNvPr id="3" name="Text 1"/>
          <p:cNvSpPr/>
          <p:nvPr/>
        </p:nvSpPr>
        <p:spPr>
          <a:xfrm>
            <a:off x="381000" y="647402"/>
            <a:ext cx="11601450" cy="381000"/>
          </a:xfrm>
          <a:prstGeom prst="rect">
            <a:avLst/>
          </a:prstGeom>
          <a:noFill/>
          <a:ln/>
        </p:spPr>
        <p:txBody>
          <a:bodyPr wrap="square" lIns="0" tIns="0" rIns="0" bIns="0" rtlCol="0" anchor="ctr"/>
          <a:lstStyle/>
          <a:p>
            <a:pPr>
              <a:lnSpc>
                <a:spcPct val="90000"/>
              </a:lnSpc>
            </a:pPr>
            <a:r>
              <a:rPr lang="en-US" sz="2700" dirty="0">
                <a:solidFill>
                  <a:srgbClr val="1D1D1D"/>
                </a:solidFill>
                <a:latin typeface="Liter" pitchFamily="34" charset="0"/>
                <a:ea typeface="Liter" pitchFamily="34" charset="-122"/>
                <a:cs typeface="Liter" pitchFamily="34" charset="-120"/>
              </a:rPr>
              <a:t>Framework Five S trong Prompt Engineering</a:t>
            </a:r>
            <a:endParaRPr lang="en-US" sz="1600" dirty="0"/>
          </a:p>
        </p:txBody>
      </p:sp>
      <p:sp>
        <p:nvSpPr>
          <p:cNvPr id="4" name="Shape 2"/>
          <p:cNvSpPr/>
          <p:nvPr/>
        </p:nvSpPr>
        <p:spPr>
          <a:xfrm>
            <a:off x="386292" y="1262229"/>
            <a:ext cx="3649133" cy="1506008"/>
          </a:xfrm>
          <a:custGeom>
            <a:avLst/>
            <a:gdLst/>
            <a:ahLst/>
            <a:cxnLst/>
            <a:rect l="l" t="t" r="r" b="b"/>
            <a:pathLst>
              <a:path w="3649133" h="1506008">
                <a:moveTo>
                  <a:pt x="0" y="0"/>
                </a:moveTo>
                <a:lnTo>
                  <a:pt x="3649133" y="0"/>
                </a:lnTo>
                <a:lnTo>
                  <a:pt x="3649133" y="1506008"/>
                </a:lnTo>
                <a:lnTo>
                  <a:pt x="0" y="1506008"/>
                </a:lnTo>
                <a:lnTo>
                  <a:pt x="0" y="0"/>
                </a:lnTo>
                <a:close/>
              </a:path>
            </a:pathLst>
          </a:custGeom>
          <a:solidFill>
            <a:srgbClr val="000000">
              <a:alpha val="0"/>
            </a:srgbClr>
          </a:solidFill>
          <a:ln w="14111">
            <a:solidFill>
              <a:srgbClr val="E5E5E5"/>
            </a:solidFill>
            <a:prstDash val="solid"/>
          </a:ln>
        </p:spPr>
      </p:sp>
      <p:sp>
        <p:nvSpPr>
          <p:cNvPr id="5" name="Shape 3"/>
          <p:cNvSpPr/>
          <p:nvPr/>
        </p:nvSpPr>
        <p:spPr>
          <a:xfrm>
            <a:off x="582083" y="1806210"/>
            <a:ext cx="3257550" cy="10583"/>
          </a:xfrm>
          <a:custGeom>
            <a:avLst/>
            <a:gdLst/>
            <a:ahLst/>
            <a:cxnLst/>
            <a:rect l="l" t="t" r="r" b="b"/>
            <a:pathLst>
              <a:path w="3257550" h="10583">
                <a:moveTo>
                  <a:pt x="0" y="0"/>
                </a:moveTo>
                <a:lnTo>
                  <a:pt x="3257550" y="0"/>
                </a:lnTo>
                <a:lnTo>
                  <a:pt x="3257550" y="10583"/>
                </a:lnTo>
                <a:lnTo>
                  <a:pt x="0" y="10583"/>
                </a:lnTo>
                <a:lnTo>
                  <a:pt x="0" y="0"/>
                </a:lnTo>
                <a:close/>
              </a:path>
            </a:pathLst>
          </a:custGeom>
          <a:solidFill>
            <a:srgbClr val="E5E5E5"/>
          </a:solidFill>
          <a:ln/>
        </p:spPr>
      </p:sp>
      <p:sp>
        <p:nvSpPr>
          <p:cNvPr id="6" name="Text 4"/>
          <p:cNvSpPr/>
          <p:nvPr/>
        </p:nvSpPr>
        <p:spPr>
          <a:xfrm>
            <a:off x="582083" y="1458018"/>
            <a:ext cx="3343275" cy="342900"/>
          </a:xfrm>
          <a:prstGeom prst="rect">
            <a:avLst/>
          </a:prstGeom>
          <a:noFill/>
          <a:ln/>
        </p:spPr>
        <p:txBody>
          <a:bodyPr wrap="square" lIns="0" tIns="0" rIns="0" bIns="7620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Model Mastery</a:t>
            </a:r>
            <a:endParaRPr lang="en-US" sz="1600" dirty="0"/>
          </a:p>
        </p:txBody>
      </p:sp>
      <p:sp>
        <p:nvSpPr>
          <p:cNvPr id="7" name="Text 5"/>
          <p:cNvSpPr/>
          <p:nvPr/>
        </p:nvSpPr>
        <p:spPr>
          <a:xfrm>
            <a:off x="582083" y="1925669"/>
            <a:ext cx="3324225" cy="64770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Mức độ hiểu biết của mô hình AI đối với các nhiệm vụ lập trình. Các mô hình hiện đại được huấn luyện trên mã nguồn, tài liệu kỹ thuật, diễn đàn lập trình.</a:t>
            </a:r>
            <a:endParaRPr lang="en-US" sz="1600" dirty="0"/>
          </a:p>
        </p:txBody>
      </p:sp>
      <p:sp>
        <p:nvSpPr>
          <p:cNvPr id="8" name="Shape 6"/>
          <p:cNvSpPr/>
          <p:nvPr/>
        </p:nvSpPr>
        <p:spPr>
          <a:xfrm>
            <a:off x="4272360" y="1262229"/>
            <a:ext cx="3649133" cy="1506008"/>
          </a:xfrm>
          <a:custGeom>
            <a:avLst/>
            <a:gdLst/>
            <a:ahLst/>
            <a:cxnLst/>
            <a:rect l="l" t="t" r="r" b="b"/>
            <a:pathLst>
              <a:path w="3649133" h="1506008">
                <a:moveTo>
                  <a:pt x="0" y="0"/>
                </a:moveTo>
                <a:lnTo>
                  <a:pt x="3649133" y="0"/>
                </a:lnTo>
                <a:lnTo>
                  <a:pt x="3649133" y="1506008"/>
                </a:lnTo>
                <a:lnTo>
                  <a:pt x="0" y="1506008"/>
                </a:lnTo>
                <a:lnTo>
                  <a:pt x="0" y="0"/>
                </a:lnTo>
                <a:close/>
              </a:path>
            </a:pathLst>
          </a:custGeom>
          <a:solidFill>
            <a:srgbClr val="000000">
              <a:alpha val="0"/>
            </a:srgbClr>
          </a:solidFill>
          <a:ln w="14111">
            <a:solidFill>
              <a:srgbClr val="E5E5E5"/>
            </a:solidFill>
            <a:prstDash val="solid"/>
          </a:ln>
        </p:spPr>
      </p:sp>
      <p:sp>
        <p:nvSpPr>
          <p:cNvPr id="9" name="Shape 7"/>
          <p:cNvSpPr/>
          <p:nvPr/>
        </p:nvSpPr>
        <p:spPr>
          <a:xfrm>
            <a:off x="4468151" y="1806210"/>
            <a:ext cx="3257550" cy="10583"/>
          </a:xfrm>
          <a:custGeom>
            <a:avLst/>
            <a:gdLst/>
            <a:ahLst/>
            <a:cxnLst/>
            <a:rect l="l" t="t" r="r" b="b"/>
            <a:pathLst>
              <a:path w="3257550" h="10583">
                <a:moveTo>
                  <a:pt x="0" y="0"/>
                </a:moveTo>
                <a:lnTo>
                  <a:pt x="3257550" y="0"/>
                </a:lnTo>
                <a:lnTo>
                  <a:pt x="3257550" y="10583"/>
                </a:lnTo>
                <a:lnTo>
                  <a:pt x="0" y="10583"/>
                </a:lnTo>
                <a:lnTo>
                  <a:pt x="0" y="0"/>
                </a:lnTo>
                <a:close/>
              </a:path>
            </a:pathLst>
          </a:custGeom>
          <a:solidFill>
            <a:srgbClr val="E5E5E5"/>
          </a:solidFill>
          <a:ln/>
        </p:spPr>
      </p:sp>
      <p:sp>
        <p:nvSpPr>
          <p:cNvPr id="10" name="Text 8"/>
          <p:cNvSpPr/>
          <p:nvPr/>
        </p:nvSpPr>
        <p:spPr>
          <a:xfrm>
            <a:off x="4468151" y="1458018"/>
            <a:ext cx="3343275" cy="342900"/>
          </a:xfrm>
          <a:prstGeom prst="rect">
            <a:avLst/>
          </a:prstGeom>
          <a:noFill/>
          <a:ln/>
        </p:spPr>
        <p:txBody>
          <a:bodyPr wrap="square" lIns="0" tIns="0" rIns="0" bIns="7620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Evaluation Capability</a:t>
            </a:r>
            <a:endParaRPr lang="en-US" sz="1600" dirty="0"/>
          </a:p>
        </p:txBody>
      </p:sp>
      <p:sp>
        <p:nvSpPr>
          <p:cNvPr id="11" name="Text 9"/>
          <p:cNvSpPr/>
          <p:nvPr/>
        </p:nvSpPr>
        <p:spPr>
          <a:xfrm>
            <a:off x="4468151" y="1925669"/>
            <a:ext cx="3324225" cy="64770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Khả năng của lập trình viên đánh giá kết quả AI. Cần kiểm tra tính đúng đắn, lỗi logic, bảo mật và hiệu năng.</a:t>
            </a:r>
            <a:endParaRPr lang="en-US" sz="1600" dirty="0"/>
          </a:p>
        </p:txBody>
      </p:sp>
      <p:sp>
        <p:nvSpPr>
          <p:cNvPr id="12" name="Shape 10"/>
          <p:cNvSpPr/>
          <p:nvPr/>
        </p:nvSpPr>
        <p:spPr>
          <a:xfrm>
            <a:off x="8158593" y="1262229"/>
            <a:ext cx="3649133" cy="1506008"/>
          </a:xfrm>
          <a:custGeom>
            <a:avLst/>
            <a:gdLst/>
            <a:ahLst/>
            <a:cxnLst/>
            <a:rect l="l" t="t" r="r" b="b"/>
            <a:pathLst>
              <a:path w="3649133" h="1506008">
                <a:moveTo>
                  <a:pt x="0" y="0"/>
                </a:moveTo>
                <a:lnTo>
                  <a:pt x="3649133" y="0"/>
                </a:lnTo>
                <a:lnTo>
                  <a:pt x="3649133" y="1506008"/>
                </a:lnTo>
                <a:lnTo>
                  <a:pt x="0" y="1506008"/>
                </a:lnTo>
                <a:lnTo>
                  <a:pt x="0" y="0"/>
                </a:lnTo>
                <a:close/>
              </a:path>
            </a:pathLst>
          </a:custGeom>
          <a:solidFill>
            <a:srgbClr val="000000">
              <a:alpha val="0"/>
            </a:srgbClr>
          </a:solidFill>
          <a:ln w="14111">
            <a:solidFill>
              <a:srgbClr val="E5E5E5"/>
            </a:solidFill>
            <a:prstDash val="solid"/>
          </a:ln>
        </p:spPr>
      </p:sp>
      <p:sp>
        <p:nvSpPr>
          <p:cNvPr id="13" name="Shape 11"/>
          <p:cNvSpPr/>
          <p:nvPr/>
        </p:nvSpPr>
        <p:spPr>
          <a:xfrm>
            <a:off x="8354384" y="1806210"/>
            <a:ext cx="3257550" cy="10583"/>
          </a:xfrm>
          <a:custGeom>
            <a:avLst/>
            <a:gdLst/>
            <a:ahLst/>
            <a:cxnLst/>
            <a:rect l="l" t="t" r="r" b="b"/>
            <a:pathLst>
              <a:path w="3257550" h="10583">
                <a:moveTo>
                  <a:pt x="0" y="0"/>
                </a:moveTo>
                <a:lnTo>
                  <a:pt x="3257550" y="0"/>
                </a:lnTo>
                <a:lnTo>
                  <a:pt x="3257550" y="10583"/>
                </a:lnTo>
                <a:lnTo>
                  <a:pt x="0" y="10583"/>
                </a:lnTo>
                <a:lnTo>
                  <a:pt x="0" y="0"/>
                </a:lnTo>
                <a:close/>
              </a:path>
            </a:pathLst>
          </a:custGeom>
          <a:solidFill>
            <a:srgbClr val="E5E5E5"/>
          </a:solidFill>
          <a:ln/>
        </p:spPr>
      </p:sp>
      <p:sp>
        <p:nvSpPr>
          <p:cNvPr id="14" name="Text 12"/>
          <p:cNvSpPr/>
          <p:nvPr/>
        </p:nvSpPr>
        <p:spPr>
          <a:xfrm>
            <a:off x="8354384" y="1458018"/>
            <a:ext cx="3343275" cy="342900"/>
          </a:xfrm>
          <a:prstGeom prst="rect">
            <a:avLst/>
          </a:prstGeom>
          <a:noFill/>
          <a:ln/>
        </p:spPr>
        <p:txBody>
          <a:bodyPr wrap="square" lIns="0" tIns="0" rIns="0" bIns="76200" rtlCol="0" anchor="ctr"/>
          <a:lstStyle/>
          <a:p>
            <a:pPr>
              <a:lnSpc>
                <a:spcPct val="130000"/>
              </a:lnSpc>
            </a:pPr>
            <a:r>
              <a:rPr lang="en-US" sz="1350" dirty="0">
                <a:solidFill>
                  <a:srgbClr val="1D1D1D"/>
                </a:solidFill>
                <a:latin typeface="MiSans" pitchFamily="34" charset="0"/>
                <a:ea typeface="MiSans" pitchFamily="34" charset="-122"/>
                <a:cs typeface="MiSans" pitchFamily="34" charset="-120"/>
              </a:rPr>
              <a:t>Prompt Precision</a:t>
            </a:r>
            <a:endParaRPr lang="en-US" sz="1600" dirty="0"/>
          </a:p>
        </p:txBody>
      </p:sp>
      <p:sp>
        <p:nvSpPr>
          <p:cNvPr id="15" name="Text 13"/>
          <p:cNvSpPr/>
          <p:nvPr/>
        </p:nvSpPr>
        <p:spPr>
          <a:xfrm>
            <a:off x="8354384" y="1925669"/>
            <a:ext cx="3324225" cy="64770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Mức độ rõ ràng và cụ thể của yêu cầu gửi đến AI. Prompt tốt giúp AI hiểu đúng nhiệm vụ và tạo kết quả phù hợp.</a:t>
            </a:r>
            <a:endParaRPr lang="en-US" sz="1600" dirty="0"/>
          </a:p>
        </p:txBody>
      </p:sp>
      <p:sp>
        <p:nvSpPr>
          <p:cNvPr id="16" name="Shape 14"/>
          <p:cNvSpPr/>
          <p:nvPr/>
        </p:nvSpPr>
        <p:spPr>
          <a:xfrm>
            <a:off x="381000" y="3352864"/>
            <a:ext cx="11430000" cy="10583"/>
          </a:xfrm>
          <a:custGeom>
            <a:avLst/>
            <a:gdLst/>
            <a:ahLst/>
            <a:cxnLst/>
            <a:rect l="l" t="t" r="r" b="b"/>
            <a:pathLst>
              <a:path w="11430000" h="10583">
                <a:moveTo>
                  <a:pt x="0" y="0"/>
                </a:moveTo>
                <a:lnTo>
                  <a:pt x="11430000" y="0"/>
                </a:lnTo>
                <a:lnTo>
                  <a:pt x="11430000" y="10583"/>
                </a:lnTo>
                <a:lnTo>
                  <a:pt x="0" y="10583"/>
                </a:lnTo>
                <a:lnTo>
                  <a:pt x="0" y="0"/>
                </a:lnTo>
                <a:close/>
              </a:path>
            </a:pathLst>
          </a:custGeom>
          <a:solidFill>
            <a:srgbClr val="E5E5E5"/>
          </a:solidFill>
          <a:ln/>
        </p:spPr>
      </p:sp>
      <p:sp>
        <p:nvSpPr>
          <p:cNvPr id="17" name="Text 15"/>
          <p:cNvSpPr/>
          <p:nvPr/>
        </p:nvSpPr>
        <p:spPr>
          <a:xfrm>
            <a:off x="381000" y="3004672"/>
            <a:ext cx="11525250" cy="342900"/>
          </a:xfrm>
          <a:prstGeom prst="rect">
            <a:avLst/>
          </a:prstGeom>
          <a:noFill/>
          <a:ln/>
        </p:spPr>
        <p:txBody>
          <a:bodyPr wrap="square" lIns="0" tIns="0" rIns="0" bIns="76200" rtlCol="0" anchor="ctr"/>
          <a:lstStyle/>
          <a:p>
            <a:pPr>
              <a:lnSpc>
                <a:spcPct val="120000"/>
              </a:lnSpc>
            </a:pPr>
            <a:r>
              <a:rPr lang="en-US" sz="1500" dirty="0">
                <a:solidFill>
                  <a:srgbClr val="1D1D1D"/>
                </a:solidFill>
                <a:latin typeface="MiSans" pitchFamily="34" charset="0"/>
                <a:ea typeface="MiSans" pitchFamily="34" charset="-122"/>
                <a:cs typeface="MiSans" pitchFamily="34" charset="-120"/>
              </a:rPr>
              <a:t>Framework Five S - 5 Nguyên tắc thiết kế Prompt</a:t>
            </a:r>
            <a:endParaRPr lang="en-US" sz="1600" dirty="0"/>
          </a:p>
        </p:txBody>
      </p:sp>
      <p:sp>
        <p:nvSpPr>
          <p:cNvPr id="18" name="Shape 16"/>
          <p:cNvSpPr/>
          <p:nvPr/>
        </p:nvSpPr>
        <p:spPr>
          <a:xfrm>
            <a:off x="1234447" y="35101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D1D1D"/>
          </a:solidFill>
          <a:ln/>
        </p:spPr>
      </p:sp>
      <p:sp>
        <p:nvSpPr>
          <p:cNvPr id="19" name="Text 17"/>
          <p:cNvSpPr/>
          <p:nvPr/>
        </p:nvSpPr>
        <p:spPr>
          <a:xfrm>
            <a:off x="1318617" y="3605445"/>
            <a:ext cx="285750" cy="266700"/>
          </a:xfrm>
          <a:prstGeom prst="rect">
            <a:avLst/>
          </a:prstGeom>
          <a:noFill/>
          <a:ln/>
        </p:spPr>
        <p:txBody>
          <a:bodyPr wrap="square" lIns="0" tIns="0" rIns="0" bIns="0" rtlCol="0" anchor="ctr"/>
          <a:lstStyle/>
          <a:p>
            <a:pPr algn="ctr">
              <a:lnSpc>
                <a:spcPct val="120000"/>
              </a:lnSpc>
            </a:pPr>
            <a:r>
              <a:rPr lang="en-US" sz="1500" dirty="0">
                <a:solidFill>
                  <a:srgbClr val="FFFFFF"/>
                </a:solidFill>
                <a:latin typeface="Liter" pitchFamily="34" charset="0"/>
                <a:ea typeface="Liter" pitchFamily="34" charset="-122"/>
                <a:cs typeface="Liter" pitchFamily="34" charset="-120"/>
              </a:rPr>
              <a:t>S1</a:t>
            </a:r>
            <a:endParaRPr lang="en-US" sz="1600" dirty="0"/>
          </a:p>
        </p:txBody>
      </p:sp>
      <p:sp>
        <p:nvSpPr>
          <p:cNvPr id="20" name="Text 18"/>
          <p:cNvSpPr/>
          <p:nvPr/>
        </p:nvSpPr>
        <p:spPr>
          <a:xfrm>
            <a:off x="342900" y="4081528"/>
            <a:ext cx="2238375" cy="228600"/>
          </a:xfrm>
          <a:prstGeom prst="rect">
            <a:avLst/>
          </a:prstGeom>
          <a:noFill/>
          <a:ln/>
        </p:spPr>
        <p:txBody>
          <a:bodyPr wrap="square" lIns="0" tIns="0" rIns="0" bIns="0" rtlCol="0" anchor="ctr"/>
          <a:lstStyle/>
          <a:p>
            <a:pPr algn="ctr">
              <a:lnSpc>
                <a:spcPct val="130000"/>
              </a:lnSpc>
            </a:pPr>
            <a:r>
              <a:rPr lang="en-US" sz="1200" dirty="0">
                <a:solidFill>
                  <a:srgbClr val="1D1D1D"/>
                </a:solidFill>
                <a:latin typeface="MiSans" pitchFamily="34" charset="0"/>
                <a:ea typeface="MiSans" pitchFamily="34" charset="-122"/>
                <a:cs typeface="MiSans" pitchFamily="34" charset="-120"/>
              </a:rPr>
              <a:t>Structured</a:t>
            </a:r>
            <a:endParaRPr lang="en-US" sz="1600" dirty="0"/>
          </a:p>
        </p:txBody>
      </p:sp>
      <p:sp>
        <p:nvSpPr>
          <p:cNvPr id="21" name="Text 19"/>
          <p:cNvSpPr/>
          <p:nvPr/>
        </p:nvSpPr>
        <p:spPr>
          <a:xfrm>
            <a:off x="347663" y="4386295"/>
            <a:ext cx="2228850" cy="219075"/>
          </a:xfrm>
          <a:prstGeom prst="rect">
            <a:avLst/>
          </a:prstGeom>
          <a:noFill/>
          <a:ln/>
        </p:spPr>
        <p:txBody>
          <a:bodyPr wrap="square" lIns="0" tIns="0" rIns="0" bIns="0" rtlCol="0" anchor="ctr"/>
          <a:lstStyle/>
          <a:p>
            <a:pPr algn="ctr">
              <a:lnSpc>
                <a:spcPct val="140000"/>
              </a:lnSpc>
            </a:pPr>
            <a:r>
              <a:rPr lang="en-US" sz="1050" dirty="0">
                <a:solidFill>
                  <a:srgbClr val="86868B"/>
                </a:solidFill>
                <a:latin typeface="MiSans" pitchFamily="34" charset="0"/>
                <a:ea typeface="MiSans" pitchFamily="34" charset="-122"/>
                <a:cs typeface="MiSans" pitchFamily="34" charset="-120"/>
              </a:rPr>
              <a:t>Context → Task → Input → Output</a:t>
            </a:r>
            <a:endParaRPr lang="en-US" sz="1600" dirty="0"/>
          </a:p>
        </p:txBody>
      </p:sp>
      <p:sp>
        <p:nvSpPr>
          <p:cNvPr id="22" name="Shape 20"/>
          <p:cNvSpPr/>
          <p:nvPr/>
        </p:nvSpPr>
        <p:spPr>
          <a:xfrm>
            <a:off x="3550874" y="35101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D1D1D"/>
          </a:solidFill>
          <a:ln/>
        </p:spPr>
      </p:sp>
      <p:sp>
        <p:nvSpPr>
          <p:cNvPr id="23" name="Text 21"/>
          <p:cNvSpPr/>
          <p:nvPr/>
        </p:nvSpPr>
        <p:spPr>
          <a:xfrm>
            <a:off x="3617847" y="3605445"/>
            <a:ext cx="323850" cy="266700"/>
          </a:xfrm>
          <a:prstGeom prst="rect">
            <a:avLst/>
          </a:prstGeom>
          <a:noFill/>
          <a:ln/>
        </p:spPr>
        <p:txBody>
          <a:bodyPr wrap="square" lIns="0" tIns="0" rIns="0" bIns="0" rtlCol="0" anchor="ctr"/>
          <a:lstStyle/>
          <a:p>
            <a:pPr algn="ctr">
              <a:lnSpc>
                <a:spcPct val="120000"/>
              </a:lnSpc>
            </a:pPr>
            <a:r>
              <a:rPr lang="en-US" sz="1500" dirty="0">
                <a:solidFill>
                  <a:srgbClr val="FFFFFF"/>
                </a:solidFill>
                <a:latin typeface="Liter" pitchFamily="34" charset="0"/>
                <a:ea typeface="Liter" pitchFamily="34" charset="-122"/>
                <a:cs typeface="Liter" pitchFamily="34" charset="-120"/>
              </a:rPr>
              <a:t>S2</a:t>
            </a:r>
            <a:endParaRPr lang="en-US" sz="1600" dirty="0"/>
          </a:p>
        </p:txBody>
      </p:sp>
      <p:sp>
        <p:nvSpPr>
          <p:cNvPr id="24" name="Text 22"/>
          <p:cNvSpPr/>
          <p:nvPr/>
        </p:nvSpPr>
        <p:spPr>
          <a:xfrm>
            <a:off x="2659327" y="4081528"/>
            <a:ext cx="2238375" cy="228600"/>
          </a:xfrm>
          <a:prstGeom prst="rect">
            <a:avLst/>
          </a:prstGeom>
          <a:noFill/>
          <a:ln/>
        </p:spPr>
        <p:txBody>
          <a:bodyPr wrap="square" lIns="0" tIns="0" rIns="0" bIns="0" rtlCol="0" anchor="ctr"/>
          <a:lstStyle/>
          <a:p>
            <a:pPr algn="ctr">
              <a:lnSpc>
                <a:spcPct val="130000"/>
              </a:lnSpc>
            </a:pPr>
            <a:r>
              <a:rPr lang="en-US" sz="1200" dirty="0">
                <a:solidFill>
                  <a:srgbClr val="1D1D1D"/>
                </a:solidFill>
                <a:latin typeface="MiSans" pitchFamily="34" charset="0"/>
                <a:ea typeface="MiSans" pitchFamily="34" charset="-122"/>
                <a:cs typeface="MiSans" pitchFamily="34" charset="-120"/>
              </a:rPr>
              <a:t>Surrounding</a:t>
            </a:r>
            <a:endParaRPr lang="en-US" sz="1600" dirty="0"/>
          </a:p>
        </p:txBody>
      </p:sp>
      <p:sp>
        <p:nvSpPr>
          <p:cNvPr id="25" name="Text 23"/>
          <p:cNvSpPr/>
          <p:nvPr/>
        </p:nvSpPr>
        <p:spPr>
          <a:xfrm>
            <a:off x="2664090" y="4386295"/>
            <a:ext cx="2228850" cy="219075"/>
          </a:xfrm>
          <a:prstGeom prst="rect">
            <a:avLst/>
          </a:prstGeom>
          <a:noFill/>
          <a:ln/>
        </p:spPr>
        <p:txBody>
          <a:bodyPr wrap="square" lIns="0" tIns="0" rIns="0" bIns="0" rtlCol="0" anchor="ctr"/>
          <a:lstStyle/>
          <a:p>
            <a:pPr algn="ctr">
              <a:lnSpc>
                <a:spcPct val="140000"/>
              </a:lnSpc>
            </a:pPr>
            <a:r>
              <a:rPr lang="en-US" sz="1050" dirty="0">
                <a:solidFill>
                  <a:srgbClr val="86868B"/>
                </a:solidFill>
                <a:latin typeface="MiSans" pitchFamily="34" charset="0"/>
                <a:ea typeface="MiSans" pitchFamily="34" charset="-122"/>
                <a:cs typeface="MiSans" pitchFamily="34" charset="-120"/>
              </a:rPr>
              <a:t>Cung cấp đầy đủ bối cảnh</a:t>
            </a:r>
            <a:endParaRPr lang="en-US" sz="1600" dirty="0"/>
          </a:p>
        </p:txBody>
      </p:sp>
      <p:sp>
        <p:nvSpPr>
          <p:cNvPr id="26" name="Shape 24"/>
          <p:cNvSpPr/>
          <p:nvPr/>
        </p:nvSpPr>
        <p:spPr>
          <a:xfrm>
            <a:off x="5867301" y="35101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D1D1D"/>
          </a:solidFill>
          <a:ln/>
        </p:spPr>
      </p:sp>
      <p:sp>
        <p:nvSpPr>
          <p:cNvPr id="27" name="Text 25"/>
          <p:cNvSpPr/>
          <p:nvPr/>
        </p:nvSpPr>
        <p:spPr>
          <a:xfrm>
            <a:off x="5933447" y="3605445"/>
            <a:ext cx="323850" cy="266700"/>
          </a:xfrm>
          <a:prstGeom prst="rect">
            <a:avLst/>
          </a:prstGeom>
          <a:noFill/>
          <a:ln/>
        </p:spPr>
        <p:txBody>
          <a:bodyPr wrap="square" lIns="0" tIns="0" rIns="0" bIns="0" rtlCol="0" anchor="ctr"/>
          <a:lstStyle/>
          <a:p>
            <a:pPr algn="ctr">
              <a:lnSpc>
                <a:spcPct val="120000"/>
              </a:lnSpc>
            </a:pPr>
            <a:r>
              <a:rPr lang="en-US" sz="1500" dirty="0">
                <a:solidFill>
                  <a:srgbClr val="FFFFFF"/>
                </a:solidFill>
                <a:latin typeface="Liter" pitchFamily="34" charset="0"/>
                <a:ea typeface="Liter" pitchFamily="34" charset="-122"/>
                <a:cs typeface="Liter" pitchFamily="34" charset="-120"/>
              </a:rPr>
              <a:t>S3</a:t>
            </a:r>
            <a:endParaRPr lang="en-US" sz="1600" dirty="0"/>
          </a:p>
        </p:txBody>
      </p:sp>
      <p:sp>
        <p:nvSpPr>
          <p:cNvPr id="28" name="Text 26"/>
          <p:cNvSpPr/>
          <p:nvPr/>
        </p:nvSpPr>
        <p:spPr>
          <a:xfrm>
            <a:off x="4975754" y="4081528"/>
            <a:ext cx="2238375" cy="228600"/>
          </a:xfrm>
          <a:prstGeom prst="rect">
            <a:avLst/>
          </a:prstGeom>
          <a:noFill/>
          <a:ln/>
        </p:spPr>
        <p:txBody>
          <a:bodyPr wrap="square" lIns="0" tIns="0" rIns="0" bIns="0" rtlCol="0" anchor="ctr"/>
          <a:lstStyle/>
          <a:p>
            <a:pPr algn="ctr">
              <a:lnSpc>
                <a:spcPct val="130000"/>
              </a:lnSpc>
            </a:pPr>
            <a:r>
              <a:rPr lang="en-US" sz="1200" dirty="0">
                <a:solidFill>
                  <a:srgbClr val="1D1D1D"/>
                </a:solidFill>
                <a:latin typeface="MiSans" pitchFamily="34" charset="0"/>
                <a:ea typeface="MiSans" pitchFamily="34" charset="-122"/>
                <a:cs typeface="MiSans" pitchFamily="34" charset="-120"/>
              </a:rPr>
              <a:t>Single Task</a:t>
            </a:r>
            <a:endParaRPr lang="en-US" sz="1600" dirty="0"/>
          </a:p>
        </p:txBody>
      </p:sp>
      <p:sp>
        <p:nvSpPr>
          <p:cNvPr id="29" name="Text 27"/>
          <p:cNvSpPr/>
          <p:nvPr/>
        </p:nvSpPr>
        <p:spPr>
          <a:xfrm>
            <a:off x="4980517" y="4386295"/>
            <a:ext cx="2228850" cy="219075"/>
          </a:xfrm>
          <a:prstGeom prst="rect">
            <a:avLst/>
          </a:prstGeom>
          <a:noFill/>
          <a:ln/>
        </p:spPr>
        <p:txBody>
          <a:bodyPr wrap="square" lIns="0" tIns="0" rIns="0" bIns="0" rtlCol="0" anchor="ctr"/>
          <a:lstStyle/>
          <a:p>
            <a:pPr algn="ctr">
              <a:lnSpc>
                <a:spcPct val="140000"/>
              </a:lnSpc>
            </a:pPr>
            <a:r>
              <a:rPr lang="en-US" sz="1050" dirty="0">
                <a:solidFill>
                  <a:srgbClr val="86868B"/>
                </a:solidFill>
                <a:latin typeface="MiSans" pitchFamily="34" charset="0"/>
                <a:ea typeface="MiSans" pitchFamily="34" charset="-122"/>
                <a:cs typeface="MiSans" pitchFamily="34" charset="-120"/>
              </a:rPr>
              <a:t>Một nhiệm vụ mỗi prompt</a:t>
            </a:r>
            <a:endParaRPr lang="en-US" sz="1600" dirty="0"/>
          </a:p>
        </p:txBody>
      </p:sp>
      <p:sp>
        <p:nvSpPr>
          <p:cNvPr id="30" name="Shape 28"/>
          <p:cNvSpPr/>
          <p:nvPr/>
        </p:nvSpPr>
        <p:spPr>
          <a:xfrm>
            <a:off x="8183728" y="35101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D1D1D"/>
          </a:solidFill>
          <a:ln/>
        </p:spPr>
      </p:sp>
      <p:sp>
        <p:nvSpPr>
          <p:cNvPr id="31" name="Text 29"/>
          <p:cNvSpPr/>
          <p:nvPr/>
        </p:nvSpPr>
        <p:spPr>
          <a:xfrm>
            <a:off x="8250039" y="3605445"/>
            <a:ext cx="323850" cy="266700"/>
          </a:xfrm>
          <a:prstGeom prst="rect">
            <a:avLst/>
          </a:prstGeom>
          <a:noFill/>
          <a:ln/>
        </p:spPr>
        <p:txBody>
          <a:bodyPr wrap="square" lIns="0" tIns="0" rIns="0" bIns="0" rtlCol="0" anchor="ctr"/>
          <a:lstStyle/>
          <a:p>
            <a:pPr algn="ctr">
              <a:lnSpc>
                <a:spcPct val="120000"/>
              </a:lnSpc>
            </a:pPr>
            <a:r>
              <a:rPr lang="en-US" sz="1500" dirty="0">
                <a:solidFill>
                  <a:srgbClr val="FFFFFF"/>
                </a:solidFill>
                <a:latin typeface="Liter" pitchFamily="34" charset="0"/>
                <a:ea typeface="Liter" pitchFamily="34" charset="-122"/>
                <a:cs typeface="Liter" pitchFamily="34" charset="-120"/>
              </a:rPr>
              <a:t>S4</a:t>
            </a:r>
            <a:endParaRPr lang="en-US" sz="1600" dirty="0"/>
          </a:p>
        </p:txBody>
      </p:sp>
      <p:sp>
        <p:nvSpPr>
          <p:cNvPr id="32" name="Text 30"/>
          <p:cNvSpPr/>
          <p:nvPr/>
        </p:nvSpPr>
        <p:spPr>
          <a:xfrm>
            <a:off x="7292182" y="4081528"/>
            <a:ext cx="2238375" cy="228600"/>
          </a:xfrm>
          <a:prstGeom prst="rect">
            <a:avLst/>
          </a:prstGeom>
          <a:noFill/>
          <a:ln/>
        </p:spPr>
        <p:txBody>
          <a:bodyPr wrap="square" lIns="0" tIns="0" rIns="0" bIns="0" rtlCol="0" anchor="ctr"/>
          <a:lstStyle/>
          <a:p>
            <a:pPr algn="ctr">
              <a:lnSpc>
                <a:spcPct val="130000"/>
              </a:lnSpc>
            </a:pPr>
            <a:r>
              <a:rPr lang="en-US" sz="1200" dirty="0">
                <a:solidFill>
                  <a:srgbClr val="1D1D1D"/>
                </a:solidFill>
                <a:latin typeface="MiSans" pitchFamily="34" charset="0"/>
                <a:ea typeface="MiSans" pitchFamily="34" charset="-122"/>
                <a:cs typeface="MiSans" pitchFamily="34" charset="-120"/>
              </a:rPr>
              <a:t>Specific</a:t>
            </a:r>
            <a:endParaRPr lang="en-US" sz="1600" dirty="0"/>
          </a:p>
        </p:txBody>
      </p:sp>
      <p:sp>
        <p:nvSpPr>
          <p:cNvPr id="33" name="Text 31"/>
          <p:cNvSpPr/>
          <p:nvPr/>
        </p:nvSpPr>
        <p:spPr>
          <a:xfrm>
            <a:off x="7296944" y="4386295"/>
            <a:ext cx="2228850" cy="219075"/>
          </a:xfrm>
          <a:prstGeom prst="rect">
            <a:avLst/>
          </a:prstGeom>
          <a:noFill/>
          <a:ln/>
        </p:spPr>
        <p:txBody>
          <a:bodyPr wrap="square" lIns="0" tIns="0" rIns="0" bIns="0" rtlCol="0" anchor="ctr"/>
          <a:lstStyle/>
          <a:p>
            <a:pPr algn="ctr">
              <a:lnSpc>
                <a:spcPct val="140000"/>
              </a:lnSpc>
            </a:pPr>
            <a:r>
              <a:rPr lang="en-US" sz="1050" dirty="0">
                <a:solidFill>
                  <a:srgbClr val="86868B"/>
                </a:solidFill>
                <a:latin typeface="MiSans" pitchFamily="34" charset="0"/>
                <a:ea typeface="MiSans" pitchFamily="34" charset="-122"/>
                <a:cs typeface="MiSans" pitchFamily="34" charset="-120"/>
              </a:rPr>
              <a:t>Hướng dẫn chi tiết cụ thể</a:t>
            </a:r>
            <a:endParaRPr lang="en-US" sz="1600" dirty="0"/>
          </a:p>
        </p:txBody>
      </p:sp>
      <p:sp>
        <p:nvSpPr>
          <p:cNvPr id="34" name="Shape 32"/>
          <p:cNvSpPr/>
          <p:nvPr/>
        </p:nvSpPr>
        <p:spPr>
          <a:xfrm>
            <a:off x="10500321" y="3510195"/>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1D1D1D"/>
          </a:solidFill>
          <a:ln/>
        </p:spPr>
      </p:sp>
      <p:sp>
        <p:nvSpPr>
          <p:cNvPr id="35" name="Text 33"/>
          <p:cNvSpPr/>
          <p:nvPr/>
        </p:nvSpPr>
        <p:spPr>
          <a:xfrm>
            <a:off x="10567790" y="3605445"/>
            <a:ext cx="323850" cy="266700"/>
          </a:xfrm>
          <a:prstGeom prst="rect">
            <a:avLst/>
          </a:prstGeom>
          <a:noFill/>
          <a:ln/>
        </p:spPr>
        <p:txBody>
          <a:bodyPr wrap="square" lIns="0" tIns="0" rIns="0" bIns="0" rtlCol="0" anchor="ctr"/>
          <a:lstStyle/>
          <a:p>
            <a:pPr algn="ctr">
              <a:lnSpc>
                <a:spcPct val="120000"/>
              </a:lnSpc>
            </a:pPr>
            <a:r>
              <a:rPr lang="en-US" sz="1500" dirty="0">
                <a:solidFill>
                  <a:srgbClr val="FFFFFF"/>
                </a:solidFill>
                <a:latin typeface="Liter" pitchFamily="34" charset="0"/>
                <a:ea typeface="Liter" pitchFamily="34" charset="-122"/>
                <a:cs typeface="Liter" pitchFamily="34" charset="-120"/>
              </a:rPr>
              <a:t>S5</a:t>
            </a:r>
            <a:endParaRPr lang="en-US" sz="1600" dirty="0"/>
          </a:p>
        </p:txBody>
      </p:sp>
      <p:sp>
        <p:nvSpPr>
          <p:cNvPr id="36" name="Text 34"/>
          <p:cNvSpPr/>
          <p:nvPr/>
        </p:nvSpPr>
        <p:spPr>
          <a:xfrm>
            <a:off x="9608609" y="4081528"/>
            <a:ext cx="2238375" cy="228600"/>
          </a:xfrm>
          <a:prstGeom prst="rect">
            <a:avLst/>
          </a:prstGeom>
          <a:noFill/>
          <a:ln/>
        </p:spPr>
        <p:txBody>
          <a:bodyPr wrap="square" lIns="0" tIns="0" rIns="0" bIns="0" rtlCol="0" anchor="ctr"/>
          <a:lstStyle/>
          <a:p>
            <a:pPr algn="ctr">
              <a:lnSpc>
                <a:spcPct val="130000"/>
              </a:lnSpc>
            </a:pPr>
            <a:r>
              <a:rPr lang="en-US" sz="1200" dirty="0">
                <a:solidFill>
                  <a:srgbClr val="1D1D1D"/>
                </a:solidFill>
                <a:latin typeface="MiSans" pitchFamily="34" charset="0"/>
                <a:ea typeface="MiSans" pitchFamily="34" charset="-122"/>
                <a:cs typeface="MiSans" pitchFamily="34" charset="-120"/>
              </a:rPr>
              <a:t>Short</a:t>
            </a:r>
            <a:endParaRPr lang="en-US" sz="1600" dirty="0"/>
          </a:p>
        </p:txBody>
      </p:sp>
      <p:sp>
        <p:nvSpPr>
          <p:cNvPr id="37" name="Text 35"/>
          <p:cNvSpPr/>
          <p:nvPr/>
        </p:nvSpPr>
        <p:spPr>
          <a:xfrm>
            <a:off x="9613371" y="4386295"/>
            <a:ext cx="2228850" cy="219075"/>
          </a:xfrm>
          <a:prstGeom prst="rect">
            <a:avLst/>
          </a:prstGeom>
          <a:noFill/>
          <a:ln/>
        </p:spPr>
        <p:txBody>
          <a:bodyPr wrap="square" lIns="0" tIns="0" rIns="0" bIns="0" rtlCol="0" anchor="ctr"/>
          <a:lstStyle/>
          <a:p>
            <a:pPr algn="ctr">
              <a:lnSpc>
                <a:spcPct val="140000"/>
              </a:lnSpc>
            </a:pPr>
            <a:r>
              <a:rPr lang="en-US" sz="1050" dirty="0">
                <a:solidFill>
                  <a:srgbClr val="86868B"/>
                </a:solidFill>
                <a:latin typeface="MiSans" pitchFamily="34" charset="0"/>
                <a:ea typeface="MiSans" pitchFamily="34" charset="-122"/>
                <a:cs typeface="MiSans" pitchFamily="34" charset="-120"/>
              </a:rPr>
              <a:t>Ngắn gọn, tập trung</a:t>
            </a:r>
            <a:endParaRPr lang="en-US" sz="1600" dirty="0"/>
          </a:p>
        </p:txBody>
      </p:sp>
      <p:sp>
        <p:nvSpPr>
          <p:cNvPr id="38" name="Shape 36"/>
          <p:cNvSpPr/>
          <p:nvPr/>
        </p:nvSpPr>
        <p:spPr>
          <a:xfrm>
            <a:off x="386292" y="4836583"/>
            <a:ext cx="5592233" cy="1382183"/>
          </a:xfrm>
          <a:custGeom>
            <a:avLst/>
            <a:gdLst/>
            <a:ahLst/>
            <a:cxnLst/>
            <a:rect l="l" t="t" r="r" b="b"/>
            <a:pathLst>
              <a:path w="5592233" h="1382183">
                <a:moveTo>
                  <a:pt x="0" y="0"/>
                </a:moveTo>
                <a:lnTo>
                  <a:pt x="5592233" y="0"/>
                </a:lnTo>
                <a:lnTo>
                  <a:pt x="5592233" y="1382183"/>
                </a:lnTo>
                <a:lnTo>
                  <a:pt x="0" y="1382183"/>
                </a:lnTo>
                <a:lnTo>
                  <a:pt x="0" y="0"/>
                </a:lnTo>
                <a:close/>
              </a:path>
            </a:pathLst>
          </a:custGeom>
          <a:solidFill>
            <a:srgbClr val="000000">
              <a:alpha val="0"/>
            </a:srgbClr>
          </a:solidFill>
          <a:ln w="14111">
            <a:solidFill>
              <a:srgbClr val="E5E5E5"/>
            </a:solidFill>
            <a:prstDash val="solid"/>
          </a:ln>
        </p:spPr>
      </p:sp>
      <p:sp>
        <p:nvSpPr>
          <p:cNvPr id="39" name="Text 37"/>
          <p:cNvSpPr/>
          <p:nvPr/>
        </p:nvSpPr>
        <p:spPr>
          <a:xfrm>
            <a:off x="543884" y="4994174"/>
            <a:ext cx="5353050" cy="228600"/>
          </a:xfrm>
          <a:prstGeom prst="rect">
            <a:avLst/>
          </a:prstGeom>
          <a:noFill/>
          <a:ln/>
        </p:spPr>
        <p:txBody>
          <a:bodyPr wrap="square" lIns="0" tIns="0" rIns="0" bIns="0" rtlCol="0" anchor="ctr"/>
          <a:lstStyle/>
          <a:p>
            <a:pPr>
              <a:lnSpc>
                <a:spcPct val="130000"/>
              </a:lnSpc>
            </a:pPr>
            <a:r>
              <a:rPr lang="en-US" sz="1200" dirty="0">
                <a:solidFill>
                  <a:srgbClr val="86868B"/>
                </a:solidFill>
                <a:latin typeface="MiSans" pitchFamily="34" charset="0"/>
                <a:ea typeface="MiSans" pitchFamily="34" charset="-122"/>
                <a:cs typeface="MiSans" pitchFamily="34" charset="-120"/>
              </a:rPr>
              <a:t>❌ Prompt chưa rõ</a:t>
            </a:r>
            <a:endParaRPr lang="en-US" sz="1600" dirty="0"/>
          </a:p>
        </p:txBody>
      </p:sp>
      <p:sp>
        <p:nvSpPr>
          <p:cNvPr id="40" name="Text 38"/>
          <p:cNvSpPr/>
          <p:nvPr/>
        </p:nvSpPr>
        <p:spPr>
          <a:xfrm>
            <a:off x="543884" y="5337139"/>
            <a:ext cx="53435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MiSans" pitchFamily="34" charset="0"/>
                <a:ea typeface="MiSans" pitchFamily="34" charset="-122"/>
                <a:cs typeface="MiSans" pitchFamily="34" charset="-120"/>
              </a:rPr>
              <a:t>"Fix this code"</a:t>
            </a:r>
            <a:endParaRPr lang="en-US" sz="1600" dirty="0"/>
          </a:p>
        </p:txBody>
      </p:sp>
      <p:sp>
        <p:nvSpPr>
          <p:cNvPr id="41" name="Text 39"/>
          <p:cNvSpPr/>
          <p:nvPr/>
        </p:nvSpPr>
        <p:spPr>
          <a:xfrm>
            <a:off x="543884" y="5603542"/>
            <a:ext cx="53435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MiSans" pitchFamily="34" charset="0"/>
                <a:ea typeface="MiSans" pitchFamily="34" charset="-122"/>
                <a:cs typeface="MiSans" pitchFamily="34" charset="-120"/>
              </a:rPr>
              <a:t>"Improve this code"</a:t>
            </a:r>
            <a:endParaRPr lang="en-US" sz="1600" dirty="0"/>
          </a:p>
        </p:txBody>
      </p:sp>
      <p:sp>
        <p:nvSpPr>
          <p:cNvPr id="42" name="Text 40"/>
          <p:cNvSpPr/>
          <p:nvPr/>
        </p:nvSpPr>
        <p:spPr>
          <a:xfrm>
            <a:off x="543884" y="5869944"/>
            <a:ext cx="5343525" cy="190500"/>
          </a:xfrm>
          <a:prstGeom prst="rect">
            <a:avLst/>
          </a:prstGeom>
          <a:noFill/>
          <a:ln/>
        </p:spPr>
        <p:txBody>
          <a:bodyPr wrap="square" lIns="0" tIns="0" rIns="0" bIns="0" rtlCol="0" anchor="ctr"/>
          <a:lstStyle/>
          <a:p>
            <a:pPr>
              <a:lnSpc>
                <a:spcPct val="120000"/>
              </a:lnSpc>
            </a:pPr>
            <a:r>
              <a:rPr lang="en-US" sz="1050" dirty="0">
                <a:solidFill>
                  <a:srgbClr val="86868B"/>
                </a:solidFill>
                <a:latin typeface="MiSans" pitchFamily="34" charset="0"/>
                <a:ea typeface="MiSans" pitchFamily="34" charset="-122"/>
                <a:cs typeface="MiSans" pitchFamily="34" charset="-120"/>
              </a:rPr>
              <a:t>"Write code"</a:t>
            </a:r>
            <a:endParaRPr lang="en-US" sz="1600" dirty="0"/>
          </a:p>
        </p:txBody>
      </p:sp>
      <p:sp>
        <p:nvSpPr>
          <p:cNvPr id="43" name="Shape 41"/>
          <p:cNvSpPr/>
          <p:nvPr/>
        </p:nvSpPr>
        <p:spPr>
          <a:xfrm>
            <a:off x="6215559" y="4836583"/>
            <a:ext cx="5592233" cy="1382183"/>
          </a:xfrm>
          <a:custGeom>
            <a:avLst/>
            <a:gdLst/>
            <a:ahLst/>
            <a:cxnLst/>
            <a:rect l="l" t="t" r="r" b="b"/>
            <a:pathLst>
              <a:path w="5592233" h="1382183">
                <a:moveTo>
                  <a:pt x="0" y="0"/>
                </a:moveTo>
                <a:lnTo>
                  <a:pt x="5592233" y="0"/>
                </a:lnTo>
                <a:lnTo>
                  <a:pt x="5592233" y="1382183"/>
                </a:lnTo>
                <a:lnTo>
                  <a:pt x="0" y="1382183"/>
                </a:lnTo>
                <a:lnTo>
                  <a:pt x="0" y="0"/>
                </a:lnTo>
                <a:close/>
              </a:path>
            </a:pathLst>
          </a:custGeom>
          <a:solidFill>
            <a:srgbClr val="000000">
              <a:alpha val="0"/>
            </a:srgbClr>
          </a:solidFill>
          <a:ln w="14111">
            <a:solidFill>
              <a:srgbClr val="1D1D1D"/>
            </a:solidFill>
            <a:prstDash val="solid"/>
          </a:ln>
        </p:spPr>
      </p:sp>
      <p:sp>
        <p:nvSpPr>
          <p:cNvPr id="44" name="Text 42"/>
          <p:cNvSpPr/>
          <p:nvPr/>
        </p:nvSpPr>
        <p:spPr>
          <a:xfrm>
            <a:off x="6373151" y="4994174"/>
            <a:ext cx="5353050" cy="228600"/>
          </a:xfrm>
          <a:prstGeom prst="rect">
            <a:avLst/>
          </a:prstGeom>
          <a:noFill/>
          <a:ln/>
        </p:spPr>
        <p:txBody>
          <a:bodyPr wrap="square" lIns="0" tIns="0" rIns="0" bIns="0" rtlCol="0" anchor="ctr"/>
          <a:lstStyle/>
          <a:p>
            <a:pPr>
              <a:lnSpc>
                <a:spcPct val="130000"/>
              </a:lnSpc>
            </a:pPr>
            <a:r>
              <a:rPr lang="en-US" sz="1200" dirty="0">
                <a:solidFill>
                  <a:srgbClr val="1D1D1D"/>
                </a:solidFill>
                <a:latin typeface="MiSans" pitchFamily="34" charset="0"/>
                <a:ea typeface="MiSans" pitchFamily="34" charset="-122"/>
                <a:cs typeface="MiSans" pitchFamily="34" charset="-120"/>
              </a:rPr>
              <a:t>✓ Prompt rõ ràng</a:t>
            </a:r>
            <a:endParaRPr lang="en-US" sz="1600" dirty="0"/>
          </a:p>
        </p:txBody>
      </p:sp>
      <p:sp>
        <p:nvSpPr>
          <p:cNvPr id="45" name="Text 43"/>
          <p:cNvSpPr/>
          <p:nvPr/>
        </p:nvSpPr>
        <p:spPr>
          <a:xfrm>
            <a:off x="6373151" y="5337139"/>
            <a:ext cx="5343525" cy="190500"/>
          </a:xfrm>
          <a:prstGeom prst="rect">
            <a:avLst/>
          </a:prstGeom>
          <a:noFill/>
          <a:ln/>
        </p:spPr>
        <p:txBody>
          <a:bodyPr wrap="square" lIns="0" tIns="0" rIns="0" bIns="0" rtlCol="0" anchor="ctr"/>
          <a:lstStyle/>
          <a:p>
            <a:pPr>
              <a:lnSpc>
                <a:spcPct val="120000"/>
              </a:lnSpc>
            </a:pPr>
            <a:r>
              <a:rPr lang="en-US" sz="1050" dirty="0">
                <a:solidFill>
                  <a:srgbClr val="1D1D1D"/>
                </a:solidFill>
                <a:latin typeface="MiSans" pitchFamily="34" charset="0"/>
                <a:ea typeface="MiSans" pitchFamily="34" charset="-122"/>
                <a:cs typeface="MiSans" pitchFamily="34" charset="-120"/>
              </a:rPr>
              <a:t>"Fix errors in Python quiz program"</a:t>
            </a:r>
            <a:endParaRPr lang="en-US" sz="1600" dirty="0"/>
          </a:p>
        </p:txBody>
      </p:sp>
      <p:sp>
        <p:nvSpPr>
          <p:cNvPr id="46" name="Text 44"/>
          <p:cNvSpPr/>
          <p:nvPr/>
        </p:nvSpPr>
        <p:spPr>
          <a:xfrm>
            <a:off x="6373151" y="5603542"/>
            <a:ext cx="5343525" cy="190500"/>
          </a:xfrm>
          <a:prstGeom prst="rect">
            <a:avLst/>
          </a:prstGeom>
          <a:noFill/>
          <a:ln/>
        </p:spPr>
        <p:txBody>
          <a:bodyPr wrap="square" lIns="0" tIns="0" rIns="0" bIns="0" rtlCol="0" anchor="ctr"/>
          <a:lstStyle/>
          <a:p>
            <a:pPr>
              <a:lnSpc>
                <a:spcPct val="120000"/>
              </a:lnSpc>
            </a:pPr>
            <a:r>
              <a:rPr lang="en-US" sz="1050" dirty="0">
                <a:solidFill>
                  <a:srgbClr val="1D1D1D"/>
                </a:solidFill>
                <a:latin typeface="MiSans" pitchFamily="34" charset="0"/>
                <a:ea typeface="MiSans" pitchFamily="34" charset="-122"/>
                <a:cs typeface="MiSans" pitchFamily="34" charset="-120"/>
              </a:rPr>
              <a:t>"Optimize Python sorting algorithm"</a:t>
            </a:r>
            <a:endParaRPr lang="en-US" sz="1600" dirty="0"/>
          </a:p>
        </p:txBody>
      </p:sp>
      <p:sp>
        <p:nvSpPr>
          <p:cNvPr id="47" name="Text 45"/>
          <p:cNvSpPr/>
          <p:nvPr/>
        </p:nvSpPr>
        <p:spPr>
          <a:xfrm>
            <a:off x="6373151" y="5869944"/>
            <a:ext cx="5343525" cy="190500"/>
          </a:xfrm>
          <a:prstGeom prst="rect">
            <a:avLst/>
          </a:prstGeom>
          <a:noFill/>
          <a:ln/>
        </p:spPr>
        <p:txBody>
          <a:bodyPr wrap="square" lIns="0" tIns="0" rIns="0" bIns="0" rtlCol="0" anchor="ctr"/>
          <a:lstStyle/>
          <a:p>
            <a:pPr>
              <a:lnSpc>
                <a:spcPct val="120000"/>
              </a:lnSpc>
            </a:pPr>
            <a:r>
              <a:rPr lang="en-US" sz="1050" dirty="0">
                <a:solidFill>
                  <a:srgbClr val="1D1D1D"/>
                </a:solidFill>
                <a:latin typeface="MiSans" pitchFamily="34" charset="0"/>
                <a:ea typeface="MiSans" pitchFamily="34" charset="-122"/>
                <a:cs typeface="MiSans" pitchFamily="34" charset="-120"/>
              </a:rPr>
              <a:t>"Write factorial function using recursion"</a:t>
            </a:r>
            <a:endParaRPr lang="en-US" sz="1600" dirty="0"/>
          </a:p>
        </p:txBody>
      </p:sp>
      <p:sp>
        <p:nvSpPr>
          <p:cNvPr id="48" name="Shape 46"/>
          <p:cNvSpPr/>
          <p:nvPr/>
        </p:nvSpPr>
        <p:spPr>
          <a:xfrm>
            <a:off x="381000" y="6380758"/>
            <a:ext cx="11430000" cy="10583"/>
          </a:xfrm>
          <a:custGeom>
            <a:avLst/>
            <a:gdLst/>
            <a:ahLst/>
            <a:cxnLst/>
            <a:rect l="l" t="t" r="r" b="b"/>
            <a:pathLst>
              <a:path w="11430000" h="10583">
                <a:moveTo>
                  <a:pt x="0" y="0"/>
                </a:moveTo>
                <a:lnTo>
                  <a:pt x="11430000" y="0"/>
                </a:lnTo>
                <a:lnTo>
                  <a:pt x="11430000" y="10583"/>
                </a:lnTo>
                <a:lnTo>
                  <a:pt x="0" y="10583"/>
                </a:lnTo>
                <a:lnTo>
                  <a:pt x="0" y="0"/>
                </a:lnTo>
                <a:close/>
              </a:path>
            </a:pathLst>
          </a:custGeom>
          <a:solidFill>
            <a:srgbClr val="E5E5E5"/>
          </a:solidFill>
          <a:ln/>
        </p:spPr>
      </p:sp>
      <p:sp>
        <p:nvSpPr>
          <p:cNvPr id="49" name="Text 47"/>
          <p:cNvSpPr/>
          <p:nvPr/>
        </p:nvSpPr>
        <p:spPr>
          <a:xfrm>
            <a:off x="381000" y="6538350"/>
            <a:ext cx="11496675" cy="190500"/>
          </a:xfrm>
          <a:prstGeom prst="rect">
            <a:avLst/>
          </a:prstGeom>
          <a:noFill/>
          <a:ln/>
        </p:spPr>
        <p:txBody>
          <a:bodyPr wrap="square" lIns="0" tIns="0" rIns="0" bIns="0" rtlCol="0" anchor="ctr"/>
          <a:lstStyle/>
          <a:p>
            <a:pPr>
              <a:lnSpc>
                <a:spcPct val="120000"/>
              </a:lnSpc>
            </a:pPr>
            <a:r>
              <a:rPr lang="en-US" sz="1050" b="1" dirty="0">
                <a:solidFill>
                  <a:srgbClr val="1D1D1D"/>
                </a:solidFill>
                <a:latin typeface="MiSans" pitchFamily="34" charset="0"/>
                <a:ea typeface="MiSans" pitchFamily="34" charset="-122"/>
                <a:cs typeface="MiSans" pitchFamily="34" charset="-120"/>
              </a:rPr>
              <a:t>Các Lab thực hành:</a:t>
            </a:r>
            <a:pPr>
              <a:lnSpc>
                <a:spcPct val="120000"/>
              </a:lnSpc>
            </a:pPr>
            <a:r>
              <a:rPr lang="en-US" sz="1050" dirty="0">
                <a:solidFill>
                  <a:srgbClr val="86868B"/>
                </a:solidFill>
                <a:latin typeface="MiSans" pitchFamily="34" charset="0"/>
                <a:ea typeface="MiSans" pitchFamily="34" charset="-122"/>
                <a:cs typeface="MiSans" pitchFamily="34" charset="-120"/>
              </a:rPr>
              <a:t> Lab 4.1 (Chuyển đổi Git GUI sang CLI) → Lab 4.2 (Debug Code với AI)</a:t>
            </a:r>
            <a:endParaRPr lang="en-US" sz="16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p:bgPr>
    </p:bg>
    <p:spTree>
      <p:nvGrpSpPr>
        <p:cNvPr id="1" name=""/>
        <p:cNvGrpSpPr/>
        <p:nvPr/>
      </p:nvGrpSpPr>
      <p:grpSpPr>
        <a:xfrm>
          <a:off x="0" y="0"/>
          <a:ext cx="0" cy="0"/>
          <a:chOff x="0" y="0"/>
          <a:chExt cx="0" cy="0"/>
        </a:xfrm>
      </p:grpSpPr>
      <p:pic>
        <p:nvPicPr>
          <p:cNvPr id="2" name="Image 0" descr="https://kimi-web-img.moonshot.cn/img/shankarkumarasamy.blog/bc55001757762bd22fe3308b9bc7b9892882d323.jpg">    </p:cNvPr>
          <p:cNvPicPr>
            <a:picLocks noChangeAspect="1"/>
          </p:cNvPicPr>
          <p:nvPr/>
        </p:nvPicPr>
        <p:blipFill>
          <a:blip r:embed="rId1">
            <a:alphaModFix amt="5000"/>
          </a:blip>
          <a:srcRect l="0" r="0" t="21654" b="21654"/>
          <a:stretch/>
        </p:blipFill>
        <p:spPr>
          <a:xfrm>
            <a:off x="0" y="0"/>
            <a:ext cx="12192000" cy="6858000"/>
          </a:xfrm>
          <a:prstGeom prst="roundRect">
            <a:avLst>
              <a:gd name="adj" fmla="val 0"/>
            </a:avLst>
          </a:prstGeom>
        </p:spPr>
      </p:pic>
      <p:sp>
        <p:nvSpPr>
          <p:cNvPr id="3" name="Text 0"/>
          <p:cNvSpPr/>
          <p:nvPr/>
        </p:nvSpPr>
        <p:spPr>
          <a:xfrm>
            <a:off x="381000" y="1805118"/>
            <a:ext cx="1571625" cy="914400"/>
          </a:xfrm>
          <a:prstGeom prst="rect">
            <a:avLst/>
          </a:prstGeom>
          <a:noFill/>
          <a:ln/>
        </p:spPr>
        <p:txBody>
          <a:bodyPr wrap="square" lIns="0" tIns="0" rIns="0" bIns="0" rtlCol="0" anchor="ctr"/>
          <a:lstStyle/>
          <a:p>
            <a:pPr>
              <a:lnSpc>
                <a:spcPct val="80000"/>
              </a:lnSpc>
            </a:pPr>
            <a:r>
              <a:rPr lang="en-US" sz="7200" dirty="0">
                <a:solidFill>
                  <a:srgbClr val="E5E5E5"/>
                </a:solidFill>
                <a:latin typeface="Liter" pitchFamily="34" charset="0"/>
                <a:ea typeface="Liter" pitchFamily="34" charset="-122"/>
                <a:cs typeface="Liter" pitchFamily="34" charset="-120"/>
              </a:rPr>
              <a:t>05</a:t>
            </a:r>
            <a:endParaRPr lang="en-US" sz="1600" dirty="0"/>
          </a:p>
        </p:txBody>
      </p:sp>
      <p:sp>
        <p:nvSpPr>
          <p:cNvPr id="4" name="Shape 1"/>
          <p:cNvSpPr/>
          <p:nvPr/>
        </p:nvSpPr>
        <p:spPr>
          <a:xfrm>
            <a:off x="1719626" y="1805118"/>
            <a:ext cx="9525" cy="914400"/>
          </a:xfrm>
          <a:custGeom>
            <a:avLst/>
            <a:gdLst/>
            <a:ahLst/>
            <a:cxnLst/>
            <a:rect l="l" t="t" r="r" b="b"/>
            <a:pathLst>
              <a:path w="9525" h="914400">
                <a:moveTo>
                  <a:pt x="0" y="0"/>
                </a:moveTo>
                <a:lnTo>
                  <a:pt x="9525" y="0"/>
                </a:lnTo>
                <a:lnTo>
                  <a:pt x="9525" y="914400"/>
                </a:lnTo>
                <a:lnTo>
                  <a:pt x="0" y="914400"/>
                </a:lnTo>
                <a:lnTo>
                  <a:pt x="0" y="0"/>
                </a:lnTo>
                <a:close/>
              </a:path>
            </a:pathLst>
          </a:custGeom>
          <a:solidFill>
            <a:srgbClr val="E5E5E5"/>
          </a:solidFill>
          <a:ln/>
        </p:spPr>
      </p:sp>
      <p:sp>
        <p:nvSpPr>
          <p:cNvPr id="5" name="Text 2"/>
          <p:cNvSpPr/>
          <p:nvPr/>
        </p:nvSpPr>
        <p:spPr>
          <a:xfrm>
            <a:off x="381000" y="3024355"/>
            <a:ext cx="6505575" cy="1428750"/>
          </a:xfrm>
          <a:prstGeom prst="rect">
            <a:avLst/>
          </a:prstGeom>
          <a:noFill/>
          <a:ln/>
        </p:spPr>
        <p:txBody>
          <a:bodyPr wrap="square" lIns="0" tIns="0" rIns="0" bIns="0" rtlCol="0" anchor="ctr"/>
          <a:lstStyle/>
          <a:p>
            <a:pPr>
              <a:lnSpc>
                <a:spcPct val="100000"/>
              </a:lnSpc>
            </a:pPr>
            <a:r>
              <a:rPr lang="en-US" sz="4500" dirty="0">
                <a:solidFill>
                  <a:srgbClr val="1D1D1D"/>
                </a:solidFill>
                <a:latin typeface="Liter" pitchFamily="34" charset="0"/>
                <a:ea typeface="Liter" pitchFamily="34" charset="-122"/>
                <a:cs typeface="Liter" pitchFamily="34" charset="-120"/>
              </a:rPr>
              <a:t>Prompt Engineering</a:t>
            </a:r>
            <a:endParaRPr lang="en-US" sz="1600" dirty="0"/>
          </a:p>
          <a:p>
            <a:pPr>
              <a:lnSpc>
                <a:spcPct val="100000"/>
              </a:lnSpc>
            </a:pPr>
            <a:r>
              <a:rPr lang="en-US" sz="4500" dirty="0">
                <a:solidFill>
                  <a:srgbClr val="1D1D1D"/>
                </a:solidFill>
                <a:latin typeface="Liter" pitchFamily="34" charset="0"/>
                <a:ea typeface="Liter" pitchFamily="34" charset="-122"/>
                <a:cs typeface="Liter" pitchFamily="34" charset="-120"/>
              </a:rPr>
              <a:t>với API &amp; Copilot</a:t>
            </a:r>
            <a:endParaRPr lang="en-US" sz="1600" dirty="0"/>
          </a:p>
        </p:txBody>
      </p:sp>
      <p:sp>
        <p:nvSpPr>
          <p:cNvPr id="6" name="Text 3"/>
          <p:cNvSpPr/>
          <p:nvPr/>
        </p:nvSpPr>
        <p:spPr>
          <a:xfrm>
            <a:off x="381000" y="4681640"/>
            <a:ext cx="6334125" cy="371475"/>
          </a:xfrm>
          <a:prstGeom prst="rect">
            <a:avLst/>
          </a:prstGeom>
          <a:noFill/>
          <a:ln/>
        </p:spPr>
        <p:txBody>
          <a:bodyPr wrap="square" lIns="0" tIns="0" rIns="0" bIns="0" rtlCol="0" anchor="ctr"/>
          <a:lstStyle/>
          <a:p>
            <a:pPr>
              <a:lnSpc>
                <a:spcPct val="140000"/>
              </a:lnSpc>
            </a:pPr>
            <a:r>
              <a:rPr lang="en-US" sz="1800" dirty="0">
                <a:solidFill>
                  <a:srgbClr val="86868B"/>
                </a:solidFill>
                <a:latin typeface="MiSans" pitchFamily="34" charset="0"/>
                <a:ea typeface="MiSans" pitchFamily="34" charset="-122"/>
                <a:cs typeface="MiSans" pitchFamily="34" charset="-120"/>
              </a:rPr>
              <a:t>Áp dụng kỹ thuật prompt trong môi trường lập trình thực tế</a:t>
            </a:r>
            <a:endParaRPr lang="en-US" sz="16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p:bgPr>
    </p:bg>
    <p:spTree>
      <p:nvGrpSpPr>
        <p:cNvPr id="1" name=""/>
        <p:cNvGrpSpPr/>
        <p:nvPr/>
      </p:nvGrpSpPr>
      <p:grpSpPr>
        <a:xfrm>
          <a:off x="0" y="0"/>
          <a:ext cx="0" cy="0"/>
          <a:chOff x="0" y="0"/>
          <a:chExt cx="0" cy="0"/>
        </a:xfrm>
      </p:grpSpPr>
      <p:sp>
        <p:nvSpPr>
          <p:cNvPr id="2" name="Text 0"/>
          <p:cNvSpPr/>
          <p:nvPr/>
        </p:nvSpPr>
        <p:spPr>
          <a:xfrm>
            <a:off x="345382" y="345382"/>
            <a:ext cx="11561677" cy="172691"/>
          </a:xfrm>
          <a:prstGeom prst="rect">
            <a:avLst/>
          </a:prstGeom>
          <a:noFill/>
          <a:ln/>
        </p:spPr>
        <p:txBody>
          <a:bodyPr wrap="square" lIns="0" tIns="0" rIns="0" bIns="0" rtlCol="0" anchor="ctr"/>
          <a:lstStyle/>
          <a:p>
            <a:pPr>
              <a:lnSpc>
                <a:spcPct val="120000"/>
              </a:lnSpc>
            </a:pPr>
            <a:r>
              <a:rPr lang="en-US" sz="952" spc="95" kern="0" dirty="0">
                <a:solidFill>
                  <a:srgbClr val="86868B"/>
                </a:solidFill>
                <a:latin typeface="MiSans" pitchFamily="34" charset="0"/>
                <a:ea typeface="MiSans" pitchFamily="34" charset="-122"/>
                <a:cs typeface="MiSans" pitchFamily="34" charset="-120"/>
              </a:rPr>
              <a:t>Chapter 05</a:t>
            </a:r>
            <a:endParaRPr lang="en-US" sz="1600" dirty="0"/>
          </a:p>
        </p:txBody>
      </p:sp>
      <p:sp>
        <p:nvSpPr>
          <p:cNvPr id="3" name="Text 1"/>
          <p:cNvSpPr/>
          <p:nvPr/>
        </p:nvSpPr>
        <p:spPr>
          <a:xfrm>
            <a:off x="345382" y="586880"/>
            <a:ext cx="11656657" cy="345382"/>
          </a:xfrm>
          <a:prstGeom prst="rect">
            <a:avLst/>
          </a:prstGeom>
          <a:noFill/>
          <a:ln/>
        </p:spPr>
        <p:txBody>
          <a:bodyPr wrap="square" lIns="0" tIns="0" rIns="0" bIns="0" rtlCol="0" anchor="ctr"/>
          <a:lstStyle/>
          <a:p>
            <a:pPr>
              <a:lnSpc>
                <a:spcPct val="90000"/>
              </a:lnSpc>
            </a:pPr>
            <a:r>
              <a:rPr lang="en-US" sz="2448" dirty="0">
                <a:solidFill>
                  <a:srgbClr val="1D1D1D"/>
                </a:solidFill>
                <a:latin typeface="Liter" pitchFamily="34" charset="0"/>
                <a:ea typeface="Liter" pitchFamily="34" charset="-122"/>
                <a:cs typeface="Liter" pitchFamily="34" charset="-120"/>
              </a:rPr>
              <a:t>Nguyên tắc Prompt cho OpenAI API và Copilot</a:t>
            </a:r>
            <a:endParaRPr lang="en-US" sz="1600" dirty="0"/>
          </a:p>
        </p:txBody>
      </p:sp>
      <p:sp>
        <p:nvSpPr>
          <p:cNvPr id="4" name="Shape 2"/>
          <p:cNvSpPr/>
          <p:nvPr/>
        </p:nvSpPr>
        <p:spPr>
          <a:xfrm>
            <a:off x="345382" y="1455074"/>
            <a:ext cx="5612465" cy="9594"/>
          </a:xfrm>
          <a:custGeom>
            <a:avLst/>
            <a:gdLst/>
            <a:ahLst/>
            <a:cxnLst/>
            <a:rect l="l" t="t" r="r" b="b"/>
            <a:pathLst>
              <a:path w="5612465" h="9594">
                <a:moveTo>
                  <a:pt x="0" y="0"/>
                </a:moveTo>
                <a:lnTo>
                  <a:pt x="5612465" y="0"/>
                </a:lnTo>
                <a:lnTo>
                  <a:pt x="5612465" y="9594"/>
                </a:lnTo>
                <a:lnTo>
                  <a:pt x="0" y="9594"/>
                </a:lnTo>
                <a:lnTo>
                  <a:pt x="0" y="0"/>
                </a:lnTo>
                <a:close/>
              </a:path>
            </a:pathLst>
          </a:custGeom>
          <a:solidFill>
            <a:srgbClr val="E5E5E5"/>
          </a:solidFill>
          <a:ln/>
        </p:spPr>
      </p:sp>
      <p:sp>
        <p:nvSpPr>
          <p:cNvPr id="5" name="Text 3"/>
          <p:cNvSpPr/>
          <p:nvPr/>
        </p:nvSpPr>
        <p:spPr>
          <a:xfrm>
            <a:off x="345382" y="1139433"/>
            <a:ext cx="5698810" cy="310844"/>
          </a:xfrm>
          <a:prstGeom prst="rect">
            <a:avLst/>
          </a:prstGeom>
          <a:noFill/>
          <a:ln/>
        </p:spPr>
        <p:txBody>
          <a:bodyPr wrap="square" lIns="0" tIns="0" rIns="0" bIns="69076" rtlCol="0" anchor="ctr"/>
          <a:lstStyle/>
          <a:p>
            <a:pPr>
              <a:lnSpc>
                <a:spcPct val="120000"/>
              </a:lnSpc>
            </a:pPr>
            <a:r>
              <a:rPr lang="en-US" sz="1360" dirty="0">
                <a:solidFill>
                  <a:srgbClr val="1D1D1D"/>
                </a:solidFill>
                <a:latin typeface="MiSans" pitchFamily="34" charset="0"/>
                <a:ea typeface="MiSans" pitchFamily="34" charset="-122"/>
                <a:cs typeface="MiSans" pitchFamily="34" charset="-120"/>
              </a:rPr>
              <a:t>Nguyên tắc cho OpenAI API</a:t>
            </a:r>
            <a:endParaRPr lang="en-US" sz="1600" dirty="0"/>
          </a:p>
        </p:txBody>
      </p:sp>
      <p:sp>
        <p:nvSpPr>
          <p:cNvPr id="6" name="Text 4"/>
          <p:cNvSpPr/>
          <p:nvPr/>
        </p:nvSpPr>
        <p:spPr>
          <a:xfrm>
            <a:off x="345382" y="1597697"/>
            <a:ext cx="5681541" cy="448997"/>
          </a:xfrm>
          <a:prstGeom prst="rect">
            <a:avLst/>
          </a:prstGeom>
          <a:noFill/>
          <a:ln/>
        </p:spPr>
        <p:txBody>
          <a:bodyPr wrap="square" lIns="0" tIns="0" rIns="0" bIns="0" rtlCol="0" anchor="ctr"/>
          <a:lstStyle/>
          <a:p>
            <a:pPr>
              <a:lnSpc>
                <a:spcPct val="140000"/>
              </a:lnSpc>
            </a:pPr>
            <a:r>
              <a:rPr lang="en-US" sz="1088" dirty="0">
                <a:solidFill>
                  <a:srgbClr val="1D1D1D"/>
                </a:solidFill>
                <a:latin typeface="MiSans" pitchFamily="34" charset="0"/>
                <a:ea typeface="MiSans" pitchFamily="34" charset="-122"/>
                <a:cs typeface="MiSans" pitchFamily="34" charset="-120"/>
              </a:rPr>
              <a:t>Prompt cho API cần cấu trúc rõ ràng hơn ChatGPT vì API được tích hợp trực tiếp vào chương trình.</a:t>
            </a:r>
            <a:endParaRPr lang="en-US" sz="1600" dirty="0"/>
          </a:p>
        </p:txBody>
      </p:sp>
      <p:sp>
        <p:nvSpPr>
          <p:cNvPr id="7" name="Shape 5"/>
          <p:cNvSpPr/>
          <p:nvPr/>
        </p:nvSpPr>
        <p:spPr>
          <a:xfrm>
            <a:off x="350179" y="2189670"/>
            <a:ext cx="5604789" cy="760801"/>
          </a:xfrm>
          <a:custGeom>
            <a:avLst/>
            <a:gdLst/>
            <a:ahLst/>
            <a:cxnLst/>
            <a:rect l="l" t="t" r="r" b="b"/>
            <a:pathLst>
              <a:path w="5604789" h="760801">
                <a:moveTo>
                  <a:pt x="0" y="0"/>
                </a:moveTo>
                <a:lnTo>
                  <a:pt x="5604789" y="0"/>
                </a:lnTo>
                <a:lnTo>
                  <a:pt x="5604789" y="760801"/>
                </a:lnTo>
                <a:lnTo>
                  <a:pt x="0" y="760801"/>
                </a:lnTo>
                <a:lnTo>
                  <a:pt x="0" y="0"/>
                </a:lnTo>
                <a:close/>
              </a:path>
            </a:pathLst>
          </a:custGeom>
          <a:solidFill>
            <a:srgbClr val="000000">
              <a:alpha val="0"/>
            </a:srgbClr>
          </a:solidFill>
          <a:ln w="14111">
            <a:solidFill>
              <a:srgbClr val="E5E5E5"/>
            </a:solidFill>
            <a:prstDash val="solid"/>
          </a:ln>
        </p:spPr>
      </p:sp>
      <p:sp>
        <p:nvSpPr>
          <p:cNvPr id="8" name="Text 6"/>
          <p:cNvSpPr/>
          <p:nvPr/>
        </p:nvSpPr>
        <p:spPr>
          <a:xfrm>
            <a:off x="493039" y="2332529"/>
            <a:ext cx="5387966" cy="207229"/>
          </a:xfrm>
          <a:prstGeom prst="rect">
            <a:avLst/>
          </a:prstGeom>
          <a:noFill/>
          <a:ln/>
        </p:spPr>
        <p:txBody>
          <a:bodyPr wrap="square" lIns="0" tIns="0" rIns="0" bIns="0" rtlCol="0" anchor="ctr"/>
          <a:lstStyle/>
          <a:p>
            <a:pPr>
              <a:lnSpc>
                <a:spcPct val="130000"/>
              </a:lnSpc>
            </a:pPr>
            <a:r>
              <a:rPr lang="en-US" sz="1088" dirty="0">
                <a:solidFill>
                  <a:srgbClr val="1D1D1D"/>
                </a:solidFill>
                <a:latin typeface="MiSans" pitchFamily="34" charset="0"/>
                <a:ea typeface="MiSans" pitchFamily="34" charset="-122"/>
                <a:cs typeface="MiSans" pitchFamily="34" charset="-120"/>
              </a:rPr>
              <a:t>System Prompt</a:t>
            </a:r>
            <a:endParaRPr lang="en-US" sz="1600" dirty="0"/>
          </a:p>
        </p:txBody>
      </p:sp>
      <p:sp>
        <p:nvSpPr>
          <p:cNvPr id="9" name="Text 7"/>
          <p:cNvSpPr/>
          <p:nvPr/>
        </p:nvSpPr>
        <p:spPr>
          <a:xfrm>
            <a:off x="493039" y="2608809"/>
            <a:ext cx="5379331" cy="198595"/>
          </a:xfrm>
          <a:prstGeom prst="rect">
            <a:avLst/>
          </a:prstGeom>
          <a:noFill/>
          <a:ln/>
        </p:spPr>
        <p:txBody>
          <a:bodyPr wrap="square" lIns="0" tIns="0" rIns="0" bIns="0" rtlCol="0" anchor="ctr"/>
          <a:lstStyle/>
          <a:p>
            <a:pPr>
              <a:lnSpc>
                <a:spcPct val="140000"/>
              </a:lnSpc>
            </a:pPr>
            <a:r>
              <a:rPr lang="en-US" sz="952" dirty="0">
                <a:solidFill>
                  <a:srgbClr val="86868B"/>
                </a:solidFill>
                <a:latin typeface="MiSans" pitchFamily="34" charset="0"/>
                <a:ea typeface="MiSans" pitchFamily="34" charset="-122"/>
                <a:cs typeface="MiSans" pitchFamily="34" charset="-120"/>
              </a:rPr>
              <a:t>Xác định vai trò: "You are a senior Python developer", "You are a code reviewer"</a:t>
            </a:r>
            <a:endParaRPr lang="en-US" sz="1600" dirty="0"/>
          </a:p>
        </p:txBody>
      </p:sp>
      <p:sp>
        <p:nvSpPr>
          <p:cNvPr id="10" name="Shape 8"/>
          <p:cNvSpPr/>
          <p:nvPr/>
        </p:nvSpPr>
        <p:spPr>
          <a:xfrm>
            <a:off x="350179" y="3095548"/>
            <a:ext cx="5604789" cy="760801"/>
          </a:xfrm>
          <a:custGeom>
            <a:avLst/>
            <a:gdLst/>
            <a:ahLst/>
            <a:cxnLst/>
            <a:rect l="l" t="t" r="r" b="b"/>
            <a:pathLst>
              <a:path w="5604789" h="760801">
                <a:moveTo>
                  <a:pt x="0" y="0"/>
                </a:moveTo>
                <a:lnTo>
                  <a:pt x="5604789" y="0"/>
                </a:lnTo>
                <a:lnTo>
                  <a:pt x="5604789" y="760801"/>
                </a:lnTo>
                <a:lnTo>
                  <a:pt x="0" y="760801"/>
                </a:lnTo>
                <a:lnTo>
                  <a:pt x="0" y="0"/>
                </a:lnTo>
                <a:close/>
              </a:path>
            </a:pathLst>
          </a:custGeom>
          <a:solidFill>
            <a:srgbClr val="000000">
              <a:alpha val="0"/>
            </a:srgbClr>
          </a:solidFill>
          <a:ln w="14111">
            <a:solidFill>
              <a:srgbClr val="E5E5E5"/>
            </a:solidFill>
            <a:prstDash val="solid"/>
          </a:ln>
        </p:spPr>
      </p:sp>
      <p:sp>
        <p:nvSpPr>
          <p:cNvPr id="11" name="Text 9"/>
          <p:cNvSpPr/>
          <p:nvPr/>
        </p:nvSpPr>
        <p:spPr>
          <a:xfrm>
            <a:off x="493039" y="3238407"/>
            <a:ext cx="5387966" cy="207229"/>
          </a:xfrm>
          <a:prstGeom prst="rect">
            <a:avLst/>
          </a:prstGeom>
          <a:noFill/>
          <a:ln/>
        </p:spPr>
        <p:txBody>
          <a:bodyPr wrap="square" lIns="0" tIns="0" rIns="0" bIns="0" rtlCol="0" anchor="ctr"/>
          <a:lstStyle/>
          <a:p>
            <a:pPr>
              <a:lnSpc>
                <a:spcPct val="130000"/>
              </a:lnSpc>
            </a:pPr>
            <a:r>
              <a:rPr lang="en-US" sz="1088" dirty="0">
                <a:solidFill>
                  <a:srgbClr val="1D1D1D"/>
                </a:solidFill>
                <a:latin typeface="MiSans" pitchFamily="34" charset="0"/>
                <a:ea typeface="MiSans" pitchFamily="34" charset="-122"/>
                <a:cs typeface="MiSans" pitchFamily="34" charset="-120"/>
              </a:rPr>
              <a:t>User Prompt</a:t>
            </a:r>
            <a:endParaRPr lang="en-US" sz="1600" dirty="0"/>
          </a:p>
        </p:txBody>
      </p:sp>
      <p:sp>
        <p:nvSpPr>
          <p:cNvPr id="12" name="Text 10"/>
          <p:cNvSpPr/>
          <p:nvPr/>
        </p:nvSpPr>
        <p:spPr>
          <a:xfrm>
            <a:off x="493039" y="3514688"/>
            <a:ext cx="5379331" cy="198595"/>
          </a:xfrm>
          <a:prstGeom prst="rect">
            <a:avLst/>
          </a:prstGeom>
          <a:noFill/>
          <a:ln/>
        </p:spPr>
        <p:txBody>
          <a:bodyPr wrap="square" lIns="0" tIns="0" rIns="0" bIns="0" rtlCol="0" anchor="ctr"/>
          <a:lstStyle/>
          <a:p>
            <a:pPr>
              <a:lnSpc>
                <a:spcPct val="140000"/>
              </a:lnSpc>
            </a:pPr>
            <a:r>
              <a:rPr lang="en-US" sz="952" dirty="0">
                <a:solidFill>
                  <a:srgbClr val="86868B"/>
                </a:solidFill>
                <a:latin typeface="MiSans" pitchFamily="34" charset="0"/>
                <a:ea typeface="MiSans" pitchFamily="34" charset="-122"/>
                <a:cs typeface="MiSans" pitchFamily="34" charset="-120"/>
              </a:rPr>
              <a:t>Yêu cầu cụ thể: viết code, giải thích, sửa lỗi</a:t>
            </a:r>
            <a:endParaRPr lang="en-US" sz="1600" dirty="0"/>
          </a:p>
        </p:txBody>
      </p:sp>
      <p:sp>
        <p:nvSpPr>
          <p:cNvPr id="13" name="Shape 11"/>
          <p:cNvSpPr/>
          <p:nvPr/>
        </p:nvSpPr>
        <p:spPr>
          <a:xfrm>
            <a:off x="345382" y="4346902"/>
            <a:ext cx="5612465" cy="9594"/>
          </a:xfrm>
          <a:custGeom>
            <a:avLst/>
            <a:gdLst/>
            <a:ahLst/>
            <a:cxnLst/>
            <a:rect l="l" t="t" r="r" b="b"/>
            <a:pathLst>
              <a:path w="5612465" h="9594">
                <a:moveTo>
                  <a:pt x="0" y="0"/>
                </a:moveTo>
                <a:lnTo>
                  <a:pt x="5612465" y="0"/>
                </a:lnTo>
                <a:lnTo>
                  <a:pt x="5612465" y="9594"/>
                </a:lnTo>
                <a:lnTo>
                  <a:pt x="0" y="9594"/>
                </a:lnTo>
                <a:lnTo>
                  <a:pt x="0" y="0"/>
                </a:lnTo>
                <a:close/>
              </a:path>
            </a:pathLst>
          </a:custGeom>
          <a:solidFill>
            <a:srgbClr val="E5E5E5"/>
          </a:solidFill>
          <a:ln/>
        </p:spPr>
      </p:sp>
      <p:sp>
        <p:nvSpPr>
          <p:cNvPr id="14" name="Text 12"/>
          <p:cNvSpPr/>
          <p:nvPr/>
        </p:nvSpPr>
        <p:spPr>
          <a:xfrm>
            <a:off x="345382" y="4031261"/>
            <a:ext cx="5698810" cy="310844"/>
          </a:xfrm>
          <a:prstGeom prst="rect">
            <a:avLst/>
          </a:prstGeom>
          <a:noFill/>
          <a:ln/>
        </p:spPr>
        <p:txBody>
          <a:bodyPr wrap="square" lIns="0" tIns="0" rIns="0" bIns="69076" rtlCol="0" anchor="ctr"/>
          <a:lstStyle/>
          <a:p>
            <a:pPr>
              <a:lnSpc>
                <a:spcPct val="120000"/>
              </a:lnSpc>
            </a:pPr>
            <a:r>
              <a:rPr lang="en-US" sz="1360" dirty="0">
                <a:solidFill>
                  <a:srgbClr val="1D1D1D"/>
                </a:solidFill>
                <a:latin typeface="MiSans" pitchFamily="34" charset="0"/>
                <a:ea typeface="MiSans" pitchFamily="34" charset="-122"/>
                <a:cs typeface="MiSans" pitchFamily="34" charset="-120"/>
              </a:rPr>
              <a:t>Các nguyên tắc quan trọng</a:t>
            </a:r>
            <a:endParaRPr lang="en-US" sz="1600" dirty="0"/>
          </a:p>
        </p:txBody>
      </p:sp>
      <p:sp>
        <p:nvSpPr>
          <p:cNvPr id="15" name="Shape 13"/>
          <p:cNvSpPr/>
          <p:nvPr/>
        </p:nvSpPr>
        <p:spPr>
          <a:xfrm>
            <a:off x="345382" y="4506760"/>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1D1D1D"/>
          </a:solidFill>
          <a:ln/>
        </p:spPr>
      </p:sp>
      <p:sp>
        <p:nvSpPr>
          <p:cNvPr id="16" name="Text 14"/>
          <p:cNvSpPr/>
          <p:nvPr/>
        </p:nvSpPr>
        <p:spPr>
          <a:xfrm>
            <a:off x="319479" y="4506760"/>
            <a:ext cx="259037" cy="207229"/>
          </a:xfrm>
          <a:prstGeom prst="rect">
            <a:avLst/>
          </a:prstGeom>
          <a:noFill/>
          <a:ln/>
        </p:spPr>
        <p:txBody>
          <a:bodyPr wrap="square" lIns="0" tIns="0" rIns="0" bIns="0" rtlCol="0" anchor="ctr"/>
          <a:lstStyle/>
          <a:p>
            <a:pPr algn="ctr">
              <a:lnSpc>
                <a:spcPct val="110000"/>
              </a:lnSpc>
            </a:pPr>
            <a:r>
              <a:rPr lang="en-US" sz="816" dirty="0">
                <a:solidFill>
                  <a:srgbClr val="FFFFFF"/>
                </a:solidFill>
                <a:latin typeface="MiSans" pitchFamily="34" charset="0"/>
                <a:ea typeface="MiSans" pitchFamily="34" charset="-122"/>
                <a:cs typeface="MiSans" pitchFamily="34" charset="-120"/>
              </a:rPr>
              <a:t>1</a:t>
            </a:r>
            <a:endParaRPr lang="en-US" sz="1600" dirty="0"/>
          </a:p>
        </p:txBody>
      </p:sp>
      <p:sp>
        <p:nvSpPr>
          <p:cNvPr id="17" name="Text 15"/>
          <p:cNvSpPr/>
          <p:nvPr/>
        </p:nvSpPr>
        <p:spPr>
          <a:xfrm>
            <a:off x="656137" y="4489525"/>
            <a:ext cx="2227717" cy="207229"/>
          </a:xfrm>
          <a:prstGeom prst="rect">
            <a:avLst/>
          </a:prstGeom>
          <a:noFill/>
          <a:ln/>
        </p:spPr>
        <p:txBody>
          <a:bodyPr wrap="square" lIns="0" tIns="0" rIns="0" bIns="0" rtlCol="0" anchor="ctr"/>
          <a:lstStyle/>
          <a:p>
            <a:pPr>
              <a:lnSpc>
                <a:spcPct val="130000"/>
              </a:lnSpc>
            </a:pPr>
            <a:r>
              <a:rPr lang="en-US" sz="1088" dirty="0">
                <a:solidFill>
                  <a:srgbClr val="1D1D1D"/>
                </a:solidFill>
                <a:latin typeface="MiSans" pitchFamily="34" charset="0"/>
                <a:ea typeface="MiSans" pitchFamily="34" charset="-122"/>
                <a:cs typeface="MiSans" pitchFamily="34" charset="-120"/>
              </a:rPr>
              <a:t>Structured Prompts</a:t>
            </a:r>
            <a:endParaRPr lang="en-US" sz="1600" dirty="0"/>
          </a:p>
        </p:txBody>
      </p:sp>
      <p:sp>
        <p:nvSpPr>
          <p:cNvPr id="18" name="Text 16"/>
          <p:cNvSpPr/>
          <p:nvPr/>
        </p:nvSpPr>
        <p:spPr>
          <a:xfrm>
            <a:off x="656137" y="4731318"/>
            <a:ext cx="2219082"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Mục tiêu → Mô tả → Định dạng output</a:t>
            </a:r>
            <a:endParaRPr lang="en-US" sz="1600" dirty="0"/>
          </a:p>
        </p:txBody>
      </p:sp>
      <p:sp>
        <p:nvSpPr>
          <p:cNvPr id="19" name="Shape 17"/>
          <p:cNvSpPr/>
          <p:nvPr/>
        </p:nvSpPr>
        <p:spPr>
          <a:xfrm>
            <a:off x="345382" y="5024682"/>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1D1D1D"/>
          </a:solidFill>
          <a:ln/>
        </p:spPr>
      </p:sp>
      <p:sp>
        <p:nvSpPr>
          <p:cNvPr id="20" name="Text 18"/>
          <p:cNvSpPr/>
          <p:nvPr/>
        </p:nvSpPr>
        <p:spPr>
          <a:xfrm>
            <a:off x="319479" y="5024682"/>
            <a:ext cx="259037" cy="207229"/>
          </a:xfrm>
          <a:prstGeom prst="rect">
            <a:avLst/>
          </a:prstGeom>
          <a:noFill/>
          <a:ln/>
        </p:spPr>
        <p:txBody>
          <a:bodyPr wrap="square" lIns="0" tIns="0" rIns="0" bIns="0" rtlCol="0" anchor="ctr"/>
          <a:lstStyle/>
          <a:p>
            <a:pPr algn="ctr">
              <a:lnSpc>
                <a:spcPct val="110000"/>
              </a:lnSpc>
            </a:pPr>
            <a:r>
              <a:rPr lang="en-US" sz="816" dirty="0">
                <a:solidFill>
                  <a:srgbClr val="FFFFFF"/>
                </a:solidFill>
                <a:latin typeface="MiSans" pitchFamily="34" charset="0"/>
                <a:ea typeface="MiSans" pitchFamily="34" charset="-122"/>
                <a:cs typeface="MiSans" pitchFamily="34" charset="-120"/>
              </a:rPr>
              <a:t>2</a:t>
            </a:r>
            <a:endParaRPr lang="en-US" sz="1600" dirty="0"/>
          </a:p>
        </p:txBody>
      </p:sp>
      <p:sp>
        <p:nvSpPr>
          <p:cNvPr id="21" name="Text 19"/>
          <p:cNvSpPr/>
          <p:nvPr/>
        </p:nvSpPr>
        <p:spPr>
          <a:xfrm>
            <a:off x="656137" y="5007447"/>
            <a:ext cx="2573099" cy="207229"/>
          </a:xfrm>
          <a:prstGeom prst="rect">
            <a:avLst/>
          </a:prstGeom>
          <a:noFill/>
          <a:ln/>
        </p:spPr>
        <p:txBody>
          <a:bodyPr wrap="square" lIns="0" tIns="0" rIns="0" bIns="0" rtlCol="0" anchor="ctr"/>
          <a:lstStyle/>
          <a:p>
            <a:pPr>
              <a:lnSpc>
                <a:spcPct val="130000"/>
              </a:lnSpc>
            </a:pPr>
            <a:r>
              <a:rPr lang="en-US" sz="1088" dirty="0">
                <a:solidFill>
                  <a:srgbClr val="1D1D1D"/>
                </a:solidFill>
                <a:latin typeface="MiSans" pitchFamily="34" charset="0"/>
                <a:ea typeface="MiSans" pitchFamily="34" charset="-122"/>
                <a:cs typeface="MiSans" pitchFamily="34" charset="-120"/>
              </a:rPr>
              <a:t>Surrounding Context</a:t>
            </a:r>
            <a:endParaRPr lang="en-US" sz="1600" dirty="0"/>
          </a:p>
        </p:txBody>
      </p:sp>
      <p:sp>
        <p:nvSpPr>
          <p:cNvPr id="22" name="Text 20"/>
          <p:cNvSpPr/>
          <p:nvPr/>
        </p:nvSpPr>
        <p:spPr>
          <a:xfrm>
            <a:off x="656137" y="5249240"/>
            <a:ext cx="2564465"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Tên hàm, kiểu dữ liệu, mục đích chương trình</a:t>
            </a:r>
            <a:endParaRPr lang="en-US" sz="1600" dirty="0"/>
          </a:p>
        </p:txBody>
      </p:sp>
      <p:sp>
        <p:nvSpPr>
          <p:cNvPr id="23" name="Shape 21"/>
          <p:cNvSpPr/>
          <p:nvPr/>
        </p:nvSpPr>
        <p:spPr>
          <a:xfrm>
            <a:off x="345382" y="5542612"/>
            <a:ext cx="207229" cy="207229"/>
          </a:xfrm>
          <a:custGeom>
            <a:avLst/>
            <a:gdLst/>
            <a:ahLst/>
            <a:cxnLst/>
            <a:rect l="l" t="t" r="r" b="b"/>
            <a:pathLst>
              <a:path w="207229" h="207229">
                <a:moveTo>
                  <a:pt x="103615" y="0"/>
                </a:moveTo>
                <a:lnTo>
                  <a:pt x="103615" y="0"/>
                </a:lnTo>
                <a:cubicBezTo>
                  <a:pt x="160801" y="0"/>
                  <a:pt x="207229" y="46428"/>
                  <a:pt x="207229" y="103615"/>
                </a:cubicBezTo>
                <a:lnTo>
                  <a:pt x="207229" y="103615"/>
                </a:lnTo>
                <a:cubicBezTo>
                  <a:pt x="207229" y="160801"/>
                  <a:pt x="160801" y="207229"/>
                  <a:pt x="103615" y="207229"/>
                </a:cubicBezTo>
                <a:lnTo>
                  <a:pt x="103615" y="207229"/>
                </a:lnTo>
                <a:cubicBezTo>
                  <a:pt x="46428" y="207229"/>
                  <a:pt x="0" y="160801"/>
                  <a:pt x="0" y="103615"/>
                </a:cubicBezTo>
                <a:lnTo>
                  <a:pt x="0" y="103615"/>
                </a:lnTo>
                <a:cubicBezTo>
                  <a:pt x="0" y="46428"/>
                  <a:pt x="46428" y="0"/>
                  <a:pt x="103615" y="0"/>
                </a:cubicBezTo>
                <a:close/>
              </a:path>
            </a:pathLst>
          </a:custGeom>
          <a:solidFill>
            <a:srgbClr val="1D1D1D"/>
          </a:solidFill>
          <a:ln/>
        </p:spPr>
      </p:sp>
      <p:sp>
        <p:nvSpPr>
          <p:cNvPr id="24" name="Text 22"/>
          <p:cNvSpPr/>
          <p:nvPr/>
        </p:nvSpPr>
        <p:spPr>
          <a:xfrm>
            <a:off x="319479" y="5542612"/>
            <a:ext cx="259037" cy="207229"/>
          </a:xfrm>
          <a:prstGeom prst="rect">
            <a:avLst/>
          </a:prstGeom>
          <a:noFill/>
          <a:ln/>
        </p:spPr>
        <p:txBody>
          <a:bodyPr wrap="square" lIns="0" tIns="0" rIns="0" bIns="0" rtlCol="0" anchor="ctr"/>
          <a:lstStyle/>
          <a:p>
            <a:pPr algn="ctr">
              <a:lnSpc>
                <a:spcPct val="110000"/>
              </a:lnSpc>
            </a:pPr>
            <a:r>
              <a:rPr lang="en-US" sz="816" dirty="0">
                <a:solidFill>
                  <a:srgbClr val="FFFFFF"/>
                </a:solidFill>
                <a:latin typeface="MiSans" pitchFamily="34" charset="0"/>
                <a:ea typeface="MiSans" pitchFamily="34" charset="-122"/>
                <a:cs typeface="MiSans" pitchFamily="34" charset="-120"/>
              </a:rPr>
              <a:t>3</a:t>
            </a:r>
            <a:endParaRPr lang="en-US" sz="1600" dirty="0"/>
          </a:p>
        </p:txBody>
      </p:sp>
      <p:sp>
        <p:nvSpPr>
          <p:cNvPr id="25" name="Text 23"/>
          <p:cNvSpPr/>
          <p:nvPr/>
        </p:nvSpPr>
        <p:spPr>
          <a:xfrm>
            <a:off x="656137" y="5525369"/>
            <a:ext cx="2201813" cy="207229"/>
          </a:xfrm>
          <a:prstGeom prst="rect">
            <a:avLst/>
          </a:prstGeom>
          <a:noFill/>
          <a:ln/>
        </p:spPr>
        <p:txBody>
          <a:bodyPr wrap="square" lIns="0" tIns="0" rIns="0" bIns="0" rtlCol="0" anchor="ctr"/>
          <a:lstStyle/>
          <a:p>
            <a:pPr>
              <a:lnSpc>
                <a:spcPct val="130000"/>
              </a:lnSpc>
            </a:pPr>
            <a:r>
              <a:rPr lang="en-US" sz="1088" dirty="0">
                <a:solidFill>
                  <a:srgbClr val="1D1D1D"/>
                </a:solidFill>
                <a:latin typeface="MiSans" pitchFamily="34" charset="0"/>
                <a:ea typeface="MiSans" pitchFamily="34" charset="-122"/>
                <a:cs typeface="MiSans" pitchFamily="34" charset="-120"/>
              </a:rPr>
              <a:t>Specific Instructions</a:t>
            </a:r>
            <a:endParaRPr lang="en-US" sz="1600" dirty="0"/>
          </a:p>
        </p:txBody>
      </p:sp>
      <p:sp>
        <p:nvSpPr>
          <p:cNvPr id="26" name="Text 24"/>
          <p:cNvSpPr/>
          <p:nvPr/>
        </p:nvSpPr>
        <p:spPr>
          <a:xfrm>
            <a:off x="656137" y="5767170"/>
            <a:ext cx="2193178"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Quy tắc đặt tên, chuẩn documentation</a:t>
            </a:r>
            <a:endParaRPr lang="en-US" sz="1600" dirty="0"/>
          </a:p>
        </p:txBody>
      </p:sp>
      <p:sp>
        <p:nvSpPr>
          <p:cNvPr id="27" name="Shape 25"/>
          <p:cNvSpPr/>
          <p:nvPr/>
        </p:nvSpPr>
        <p:spPr>
          <a:xfrm>
            <a:off x="6236972" y="1144230"/>
            <a:ext cx="5604789" cy="2289118"/>
          </a:xfrm>
          <a:custGeom>
            <a:avLst/>
            <a:gdLst/>
            <a:ahLst/>
            <a:cxnLst/>
            <a:rect l="l" t="t" r="r" b="b"/>
            <a:pathLst>
              <a:path w="5604789" h="2289118">
                <a:moveTo>
                  <a:pt x="0" y="0"/>
                </a:moveTo>
                <a:lnTo>
                  <a:pt x="5604789" y="0"/>
                </a:lnTo>
                <a:lnTo>
                  <a:pt x="5604789" y="2289118"/>
                </a:lnTo>
                <a:lnTo>
                  <a:pt x="0" y="2289118"/>
                </a:lnTo>
                <a:lnTo>
                  <a:pt x="0" y="0"/>
                </a:lnTo>
                <a:close/>
              </a:path>
            </a:pathLst>
          </a:custGeom>
          <a:solidFill>
            <a:srgbClr val="000000">
              <a:alpha val="0"/>
            </a:srgbClr>
          </a:solidFill>
          <a:ln w="14111">
            <a:solidFill>
              <a:srgbClr val="E5E5E5"/>
            </a:solidFill>
            <a:prstDash val="solid"/>
          </a:ln>
        </p:spPr>
      </p:sp>
      <p:sp>
        <p:nvSpPr>
          <p:cNvPr id="28" name="Text 26"/>
          <p:cNvSpPr/>
          <p:nvPr/>
        </p:nvSpPr>
        <p:spPr>
          <a:xfrm>
            <a:off x="6414460" y="1321720"/>
            <a:ext cx="5327524" cy="241768"/>
          </a:xfrm>
          <a:prstGeom prst="rect">
            <a:avLst/>
          </a:prstGeom>
          <a:noFill/>
          <a:ln/>
        </p:spPr>
        <p:txBody>
          <a:bodyPr wrap="square" lIns="0" tIns="0" rIns="0" bIns="0" rtlCol="0" anchor="ctr"/>
          <a:lstStyle/>
          <a:p>
            <a:pPr>
              <a:lnSpc>
                <a:spcPct val="130000"/>
              </a:lnSpc>
            </a:pPr>
            <a:r>
              <a:rPr lang="en-US" sz="1224" dirty="0">
                <a:solidFill>
                  <a:srgbClr val="1D1D1D"/>
                </a:solidFill>
                <a:latin typeface="MiSans" pitchFamily="34" charset="0"/>
                <a:ea typeface="MiSans" pitchFamily="34" charset="-122"/>
                <a:cs typeface="MiSans" pitchFamily="34" charset="-120"/>
              </a:rPr>
              <a:t>Lab 5.1: Tạo Docstring tự động</a:t>
            </a:r>
            <a:endParaRPr lang="en-US" sz="1600" dirty="0"/>
          </a:p>
        </p:txBody>
      </p:sp>
      <p:sp>
        <p:nvSpPr>
          <p:cNvPr id="29" name="Text 27"/>
          <p:cNvSpPr/>
          <p:nvPr/>
        </p:nvSpPr>
        <p:spPr>
          <a:xfrm>
            <a:off x="6414460" y="1701582"/>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Quy trình</a:t>
            </a:r>
            <a:endParaRPr lang="en-US" sz="1600" dirty="0"/>
          </a:p>
        </p:txBody>
      </p:sp>
      <p:sp>
        <p:nvSpPr>
          <p:cNvPr id="30" name="Text 28"/>
          <p:cNvSpPr/>
          <p:nvPr/>
        </p:nvSpPr>
        <p:spPr>
          <a:xfrm>
            <a:off x="6414460" y="1908601"/>
            <a:ext cx="5310255"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Python Function → inspect.getsource() → Tạo Prompt → Gửi AI → AI sinh Docstring</a:t>
            </a:r>
            <a:endParaRPr lang="en-US" sz="1600" dirty="0"/>
          </a:p>
        </p:txBody>
      </p:sp>
      <p:sp>
        <p:nvSpPr>
          <p:cNvPr id="31" name="Text 29"/>
          <p:cNvSpPr/>
          <p:nvPr/>
        </p:nvSpPr>
        <p:spPr>
          <a:xfrm>
            <a:off x="6414460" y="2184721"/>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System Prompt</a:t>
            </a:r>
            <a:endParaRPr lang="en-US" sz="1600" dirty="0"/>
          </a:p>
        </p:txBody>
      </p:sp>
      <p:sp>
        <p:nvSpPr>
          <p:cNvPr id="32" name="Shape 30"/>
          <p:cNvSpPr/>
          <p:nvPr/>
        </p:nvSpPr>
        <p:spPr>
          <a:xfrm>
            <a:off x="6414460" y="2391740"/>
            <a:ext cx="5249813" cy="276306"/>
          </a:xfrm>
          <a:custGeom>
            <a:avLst/>
            <a:gdLst/>
            <a:ahLst/>
            <a:cxnLst/>
            <a:rect l="l" t="t" r="r" b="b"/>
            <a:pathLst>
              <a:path w="5249813" h="276306">
                <a:moveTo>
                  <a:pt x="0" y="0"/>
                </a:moveTo>
                <a:lnTo>
                  <a:pt x="5249813" y="0"/>
                </a:lnTo>
                <a:lnTo>
                  <a:pt x="5249813" y="276306"/>
                </a:lnTo>
                <a:lnTo>
                  <a:pt x="0" y="276306"/>
                </a:lnTo>
                <a:lnTo>
                  <a:pt x="0" y="0"/>
                </a:lnTo>
                <a:close/>
              </a:path>
            </a:pathLst>
          </a:custGeom>
          <a:solidFill>
            <a:srgbClr val="F5F5F5"/>
          </a:solidFill>
          <a:ln/>
        </p:spPr>
      </p:sp>
      <p:sp>
        <p:nvSpPr>
          <p:cNvPr id="33" name="Text 31"/>
          <p:cNvSpPr/>
          <p:nvPr/>
        </p:nvSpPr>
        <p:spPr>
          <a:xfrm>
            <a:off x="6414460" y="2391740"/>
            <a:ext cx="5301620" cy="276306"/>
          </a:xfrm>
          <a:prstGeom prst="rect">
            <a:avLst/>
          </a:prstGeom>
          <a:noFill/>
          <a:ln/>
        </p:spPr>
        <p:txBody>
          <a:bodyPr wrap="square" lIns="69076" tIns="69076" rIns="69076" bIns="69076" rtlCol="0" anchor="ctr"/>
          <a:lstStyle/>
          <a:p>
            <a:pPr>
              <a:lnSpc>
                <a:spcPct val="110000"/>
              </a:lnSpc>
            </a:pPr>
            <a:r>
              <a:rPr lang="en-US" sz="816" dirty="0">
                <a:solidFill>
                  <a:srgbClr val="86868B"/>
                </a:solidFill>
                <a:latin typeface="MiSans" pitchFamily="34" charset="0"/>
                <a:ea typeface="MiSans" pitchFamily="34" charset="-122"/>
                <a:cs typeface="MiSans" pitchFamily="34" charset="-120"/>
              </a:rPr>
              <a:t>"You are a senior Python developer. Generate a clear Python docstring..."</a:t>
            </a:r>
            <a:endParaRPr lang="en-US" sz="1600" dirty="0"/>
          </a:p>
        </p:txBody>
      </p:sp>
      <p:sp>
        <p:nvSpPr>
          <p:cNvPr id="34" name="Text 32"/>
          <p:cNvSpPr/>
          <p:nvPr/>
        </p:nvSpPr>
        <p:spPr>
          <a:xfrm>
            <a:off x="6414460" y="2771306"/>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User Prompt</a:t>
            </a:r>
            <a:endParaRPr lang="en-US" sz="1600" dirty="0"/>
          </a:p>
        </p:txBody>
      </p:sp>
      <p:sp>
        <p:nvSpPr>
          <p:cNvPr id="35" name="Shape 33"/>
          <p:cNvSpPr/>
          <p:nvPr/>
        </p:nvSpPr>
        <p:spPr>
          <a:xfrm>
            <a:off x="6414460" y="2978325"/>
            <a:ext cx="5249813" cy="276306"/>
          </a:xfrm>
          <a:custGeom>
            <a:avLst/>
            <a:gdLst/>
            <a:ahLst/>
            <a:cxnLst/>
            <a:rect l="l" t="t" r="r" b="b"/>
            <a:pathLst>
              <a:path w="5249813" h="276306">
                <a:moveTo>
                  <a:pt x="0" y="0"/>
                </a:moveTo>
                <a:lnTo>
                  <a:pt x="5249813" y="0"/>
                </a:lnTo>
                <a:lnTo>
                  <a:pt x="5249813" y="276306"/>
                </a:lnTo>
                <a:lnTo>
                  <a:pt x="0" y="276306"/>
                </a:lnTo>
                <a:lnTo>
                  <a:pt x="0" y="0"/>
                </a:lnTo>
                <a:close/>
              </a:path>
            </a:pathLst>
          </a:custGeom>
          <a:solidFill>
            <a:srgbClr val="F5F5F5"/>
          </a:solidFill>
          <a:ln/>
        </p:spPr>
      </p:sp>
      <p:sp>
        <p:nvSpPr>
          <p:cNvPr id="36" name="Text 34"/>
          <p:cNvSpPr/>
          <p:nvPr/>
        </p:nvSpPr>
        <p:spPr>
          <a:xfrm>
            <a:off x="6414460" y="2978325"/>
            <a:ext cx="5301620" cy="276306"/>
          </a:xfrm>
          <a:prstGeom prst="rect">
            <a:avLst/>
          </a:prstGeom>
          <a:noFill/>
          <a:ln/>
        </p:spPr>
        <p:txBody>
          <a:bodyPr wrap="square" lIns="69076" tIns="69076" rIns="69076" bIns="69076" rtlCol="0" anchor="ctr"/>
          <a:lstStyle/>
          <a:p>
            <a:pPr>
              <a:lnSpc>
                <a:spcPct val="110000"/>
              </a:lnSpc>
            </a:pPr>
            <a:r>
              <a:rPr lang="en-US" sz="816" dirty="0">
                <a:solidFill>
                  <a:srgbClr val="86868B"/>
                </a:solidFill>
                <a:latin typeface="MiSans" pitchFamily="34" charset="0"/>
                <a:ea typeface="MiSans" pitchFamily="34" charset="-122"/>
                <a:cs typeface="MiSans" pitchFamily="34" charset="-120"/>
              </a:rPr>
              <a:t>"Write a Python docstring for this function: {code}"</a:t>
            </a:r>
            <a:endParaRPr lang="en-US" sz="1600" dirty="0"/>
          </a:p>
        </p:txBody>
      </p:sp>
      <p:sp>
        <p:nvSpPr>
          <p:cNvPr id="37" name="Shape 35"/>
          <p:cNvSpPr/>
          <p:nvPr/>
        </p:nvSpPr>
        <p:spPr>
          <a:xfrm>
            <a:off x="6236972" y="3614077"/>
            <a:ext cx="5604789" cy="2081889"/>
          </a:xfrm>
          <a:custGeom>
            <a:avLst/>
            <a:gdLst/>
            <a:ahLst/>
            <a:cxnLst/>
            <a:rect l="l" t="t" r="r" b="b"/>
            <a:pathLst>
              <a:path w="5604789" h="2081889">
                <a:moveTo>
                  <a:pt x="0" y="0"/>
                </a:moveTo>
                <a:lnTo>
                  <a:pt x="5604789" y="0"/>
                </a:lnTo>
                <a:lnTo>
                  <a:pt x="5604789" y="2081889"/>
                </a:lnTo>
                <a:lnTo>
                  <a:pt x="0" y="2081889"/>
                </a:lnTo>
                <a:lnTo>
                  <a:pt x="0" y="0"/>
                </a:lnTo>
                <a:close/>
              </a:path>
            </a:pathLst>
          </a:custGeom>
          <a:solidFill>
            <a:srgbClr val="000000">
              <a:alpha val="0"/>
            </a:srgbClr>
          </a:solidFill>
          <a:ln w="14111">
            <a:solidFill>
              <a:srgbClr val="E5E5E5"/>
            </a:solidFill>
            <a:prstDash val="solid"/>
          </a:ln>
        </p:spPr>
      </p:sp>
      <p:sp>
        <p:nvSpPr>
          <p:cNvPr id="38" name="Text 36"/>
          <p:cNvSpPr/>
          <p:nvPr/>
        </p:nvSpPr>
        <p:spPr>
          <a:xfrm>
            <a:off x="6414460" y="3791559"/>
            <a:ext cx="5327524" cy="241768"/>
          </a:xfrm>
          <a:prstGeom prst="rect">
            <a:avLst/>
          </a:prstGeom>
          <a:noFill/>
          <a:ln/>
        </p:spPr>
        <p:txBody>
          <a:bodyPr wrap="square" lIns="0" tIns="0" rIns="0" bIns="0" rtlCol="0" anchor="ctr"/>
          <a:lstStyle/>
          <a:p>
            <a:pPr>
              <a:lnSpc>
                <a:spcPct val="130000"/>
              </a:lnSpc>
            </a:pPr>
            <a:r>
              <a:rPr lang="en-US" sz="1224" dirty="0">
                <a:solidFill>
                  <a:srgbClr val="1D1D1D"/>
                </a:solidFill>
                <a:latin typeface="MiSans" pitchFamily="34" charset="0"/>
                <a:ea typeface="MiSans" pitchFamily="34" charset="-122"/>
                <a:cs typeface="MiSans" pitchFamily="34" charset="-120"/>
              </a:rPr>
              <a:t>Lab 5.2: Singleton Pattern</a:t>
            </a:r>
            <a:endParaRPr lang="en-US" sz="1600" dirty="0"/>
          </a:p>
        </p:txBody>
      </p:sp>
      <p:sp>
        <p:nvSpPr>
          <p:cNvPr id="39" name="Text 37"/>
          <p:cNvSpPr/>
          <p:nvPr/>
        </p:nvSpPr>
        <p:spPr>
          <a:xfrm>
            <a:off x="6414460" y="4171420"/>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Mục tiêu</a:t>
            </a:r>
            <a:endParaRPr lang="en-US" sz="1600" dirty="0"/>
          </a:p>
        </p:txBody>
      </p:sp>
      <p:sp>
        <p:nvSpPr>
          <p:cNvPr id="40" name="Text 38"/>
          <p:cNvSpPr/>
          <p:nvPr/>
        </p:nvSpPr>
        <p:spPr>
          <a:xfrm>
            <a:off x="6414460" y="4378439"/>
            <a:ext cx="5310255"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Triển khai Singleton Design Pattern đảm bảo class chỉ có một instance</a:t>
            </a:r>
            <a:endParaRPr lang="en-US" sz="1600" dirty="0"/>
          </a:p>
        </p:txBody>
      </p:sp>
      <p:sp>
        <p:nvSpPr>
          <p:cNvPr id="41" name="Text 39"/>
          <p:cNvSpPr/>
          <p:nvPr/>
        </p:nvSpPr>
        <p:spPr>
          <a:xfrm>
            <a:off x="6414460" y="4654568"/>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Cách triển khai</a:t>
            </a:r>
            <a:endParaRPr lang="en-US" sz="1600" dirty="0"/>
          </a:p>
        </p:txBody>
      </p:sp>
      <p:sp>
        <p:nvSpPr>
          <p:cNvPr id="42" name="Text 40"/>
          <p:cNvSpPr/>
          <p:nvPr/>
        </p:nvSpPr>
        <p:spPr>
          <a:xfrm>
            <a:off x="6414460" y="4861587"/>
            <a:ext cx="5310255"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Sử dụng metaclass để kiểm soát quá trình tạo object</a:t>
            </a:r>
            <a:endParaRPr lang="en-US" sz="1600" dirty="0"/>
          </a:p>
        </p:txBody>
      </p:sp>
      <p:sp>
        <p:nvSpPr>
          <p:cNvPr id="43" name="Text 41"/>
          <p:cNvSpPr/>
          <p:nvPr/>
        </p:nvSpPr>
        <p:spPr>
          <a:xfrm>
            <a:off x="6414460" y="5137716"/>
            <a:ext cx="5310255" cy="172691"/>
          </a:xfrm>
          <a:prstGeom prst="rect">
            <a:avLst/>
          </a:prstGeom>
          <a:noFill/>
          <a:ln/>
        </p:spPr>
        <p:txBody>
          <a:bodyPr wrap="square" lIns="0" tIns="0" rIns="0" bIns="0" rtlCol="0" anchor="ctr"/>
          <a:lstStyle/>
          <a:p>
            <a:pPr>
              <a:lnSpc>
                <a:spcPct val="120000"/>
              </a:lnSpc>
            </a:pPr>
            <a:r>
              <a:rPr lang="en-US" sz="952" dirty="0">
                <a:solidFill>
                  <a:srgbClr val="1D1D1D"/>
                </a:solidFill>
                <a:latin typeface="MiSans" pitchFamily="34" charset="0"/>
                <a:ea typeface="MiSans" pitchFamily="34" charset="-122"/>
                <a:cs typeface="MiSans" pitchFamily="34" charset="-120"/>
              </a:rPr>
              <a:t>Ứng dụng</a:t>
            </a:r>
            <a:endParaRPr lang="en-US" sz="1600" dirty="0"/>
          </a:p>
        </p:txBody>
      </p:sp>
      <p:sp>
        <p:nvSpPr>
          <p:cNvPr id="44" name="Text 42"/>
          <p:cNvSpPr/>
          <p:nvPr/>
        </p:nvSpPr>
        <p:spPr>
          <a:xfrm>
            <a:off x="6414460" y="5344734"/>
            <a:ext cx="5310255"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Quản lý cấu hình, kết nối database, trạng thái ứng dụng</a:t>
            </a:r>
            <a:endParaRPr lang="en-US" sz="1600" dirty="0"/>
          </a:p>
        </p:txBody>
      </p:sp>
      <p:sp>
        <p:nvSpPr>
          <p:cNvPr id="45" name="Shape 43"/>
          <p:cNvSpPr/>
          <p:nvPr/>
        </p:nvSpPr>
        <p:spPr>
          <a:xfrm>
            <a:off x="6236972" y="5877049"/>
            <a:ext cx="5604789" cy="976665"/>
          </a:xfrm>
          <a:custGeom>
            <a:avLst/>
            <a:gdLst/>
            <a:ahLst/>
            <a:cxnLst/>
            <a:rect l="l" t="t" r="r" b="b"/>
            <a:pathLst>
              <a:path w="5604789" h="976665">
                <a:moveTo>
                  <a:pt x="0" y="0"/>
                </a:moveTo>
                <a:lnTo>
                  <a:pt x="5604789" y="0"/>
                </a:lnTo>
                <a:lnTo>
                  <a:pt x="5604789" y="976665"/>
                </a:lnTo>
                <a:lnTo>
                  <a:pt x="0" y="976665"/>
                </a:lnTo>
                <a:lnTo>
                  <a:pt x="0" y="0"/>
                </a:lnTo>
                <a:close/>
              </a:path>
            </a:pathLst>
          </a:custGeom>
          <a:solidFill>
            <a:srgbClr val="000000">
              <a:alpha val="0"/>
            </a:srgbClr>
          </a:solidFill>
          <a:ln w="14111">
            <a:solidFill>
              <a:srgbClr val="1D1D1D"/>
            </a:solidFill>
            <a:prstDash val="solid"/>
          </a:ln>
        </p:spPr>
      </p:sp>
      <p:sp>
        <p:nvSpPr>
          <p:cNvPr id="46" name="Text 44"/>
          <p:cNvSpPr/>
          <p:nvPr/>
        </p:nvSpPr>
        <p:spPr>
          <a:xfrm>
            <a:off x="6379832" y="6019908"/>
            <a:ext cx="5379331" cy="172691"/>
          </a:xfrm>
          <a:prstGeom prst="rect">
            <a:avLst/>
          </a:prstGeom>
          <a:noFill/>
          <a:ln/>
        </p:spPr>
        <p:txBody>
          <a:bodyPr wrap="square" lIns="0" tIns="0" rIns="0" bIns="0" rtlCol="0" anchor="ctr"/>
          <a:lstStyle/>
          <a:p>
            <a:pPr>
              <a:lnSpc>
                <a:spcPct val="120000"/>
              </a:lnSpc>
            </a:pPr>
            <a:r>
              <a:rPr lang="en-US" sz="952" dirty="0">
                <a:solidFill>
                  <a:srgbClr val="86868B"/>
                </a:solidFill>
                <a:latin typeface="MiSans" pitchFamily="34" charset="0"/>
                <a:ea typeface="MiSans" pitchFamily="34" charset="-122"/>
                <a:cs typeface="MiSans" pitchFamily="34" charset="-120"/>
              </a:rPr>
              <a:t>Kết luận</a:t>
            </a:r>
            <a:endParaRPr lang="en-US" sz="1600" dirty="0"/>
          </a:p>
        </p:txBody>
      </p:sp>
      <p:sp>
        <p:nvSpPr>
          <p:cNvPr id="47" name="Text 45"/>
          <p:cNvSpPr/>
          <p:nvPr/>
        </p:nvSpPr>
        <p:spPr>
          <a:xfrm>
            <a:off x="6379832" y="6261406"/>
            <a:ext cx="5387966" cy="448997"/>
          </a:xfrm>
          <a:prstGeom prst="rect">
            <a:avLst/>
          </a:prstGeom>
          <a:noFill/>
          <a:ln/>
        </p:spPr>
        <p:txBody>
          <a:bodyPr wrap="square" lIns="0" tIns="0" rIns="0" bIns="0" rtlCol="0" anchor="ctr"/>
          <a:lstStyle/>
          <a:p>
            <a:pPr>
              <a:lnSpc>
                <a:spcPct val="140000"/>
              </a:lnSpc>
            </a:pPr>
            <a:r>
              <a:rPr lang="en-US" sz="1088" dirty="0">
                <a:solidFill>
                  <a:srgbClr val="1D1D1D"/>
                </a:solidFill>
                <a:latin typeface="MiSans" pitchFamily="34" charset="0"/>
                <a:ea typeface="MiSans" pitchFamily="34" charset="-122"/>
                <a:cs typeface="MiSans" pitchFamily="34" charset="-120"/>
              </a:rPr>
              <a:t>Prompt Engineering là kỹ năng thiết yếu kết hợp kiến thức lập trình truyền thống và AI để tối ưu hóa quy trình phát triển phần mềm.</a:t>
            </a:r>
            <a:endParaRPr lang="en-US" sz="1600" dirty="0"/>
          </a:p>
        </p:txBody>
      </p:sp>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Cơ sở Lập trình với GenAI</dc:title>
  <dc:subject>Cơ sở Lập trình với GenAI</dc:subject>
  <dc:creator>Kimi</dc:creator>
  <cp:lastModifiedBy>Kimi</cp:lastModifiedBy>
  <cp:revision>1</cp:revision>
  <dcterms:created xsi:type="dcterms:W3CDTF">2026-03-12T15:39:12Z</dcterms:created>
  <dcterms:modified xsi:type="dcterms:W3CDTF">2026-03-12T15:39:12Z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{"Label":"Cơ sở Lập trình với GenAI","ContentProducer":"001191110108MACG2KBH8F10000","ProduceID":"19ce2b0e-5f62-865b-8000-0000d64cc3b1","ReservedCode1":"","ContentPropagator":"001191110108MACG2KBH8F20000","PropagateID":"19ce2b0e-5f62-865b-8000-0000d64cc3b1","ReservedCode2":""}</vt:lpwstr>
  </property>
</Properties>
</file>